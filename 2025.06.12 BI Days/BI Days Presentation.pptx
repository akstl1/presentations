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6" r:id="rId5"/>
    <p:sldId id="264" r:id="rId6"/>
    <p:sldId id="265" r:id="rId7"/>
    <p:sldId id="260" r:id="rId8"/>
    <p:sldId id="259"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A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315" autoAdjust="0"/>
  </p:normalViewPr>
  <p:slideViewPr>
    <p:cSldViewPr snapToGrid="0">
      <p:cViewPr>
        <p:scale>
          <a:sx n="100" d="100"/>
          <a:sy n="100" d="100"/>
        </p:scale>
        <p:origin x="99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4F555-6570-4A15-ABC4-1745CA5C4DCB}" type="datetimeFigureOut">
              <a:rPr lang="en-US" smtClean="0"/>
              <a:t>6/5/2025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B98716-6830-4726-8754-F107DE73D649}" type="slidenum">
              <a:rPr lang="en-US" smtClean="0"/>
              <a:t>‹#›</a:t>
            </a:fld>
            <a:endParaRPr lang="en-US"/>
          </a:p>
        </p:txBody>
      </p:sp>
    </p:spTree>
    <p:extLst>
      <p:ext uri="{BB962C8B-B14F-4D97-AF65-F5344CB8AC3E}">
        <p14:creationId xmlns:p14="http://schemas.microsoft.com/office/powerpoint/2010/main" val="2005302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data landscape at the firm:</a:t>
            </a:r>
          </a:p>
          <a:p>
            <a:pPr marL="171450" indent="-171450">
              <a:buFontTx/>
              <a:buChar char="-"/>
            </a:pPr>
            <a:r>
              <a:rPr lang="en-US" dirty="0"/>
              <a:t>Data source layer, which includes several databases, excel, SP, etc.. Newly emerging ETL tools like </a:t>
            </a:r>
            <a:r>
              <a:rPr lang="en-US" dirty="0" err="1"/>
              <a:t>databricks</a:t>
            </a:r>
            <a:endParaRPr lang="en-US" dirty="0"/>
          </a:p>
          <a:p>
            <a:pPr marL="171450" indent="-171450">
              <a:buFontTx/>
              <a:buChar char="-"/>
            </a:pPr>
            <a:r>
              <a:rPr lang="en-US" dirty="0"/>
              <a:t>Viz tools: Power BI, Tableau, and their corresponding Prep tools</a:t>
            </a:r>
          </a:p>
        </p:txBody>
      </p:sp>
      <p:sp>
        <p:nvSpPr>
          <p:cNvPr id="4" name="Slide Number Placeholder 3"/>
          <p:cNvSpPr>
            <a:spLocks noGrp="1"/>
          </p:cNvSpPr>
          <p:nvPr>
            <p:ph type="sldNum" sz="quarter" idx="5"/>
          </p:nvPr>
        </p:nvSpPr>
        <p:spPr/>
        <p:txBody>
          <a:bodyPr/>
          <a:lstStyle/>
          <a:p>
            <a:fld id="{9CB98716-6830-4726-8754-F107DE73D649}" type="slidenum">
              <a:rPr lang="en-US" smtClean="0"/>
              <a:t>2</a:t>
            </a:fld>
            <a:endParaRPr lang="en-US"/>
          </a:p>
        </p:txBody>
      </p:sp>
    </p:spTree>
    <p:extLst>
      <p:ext uri="{BB962C8B-B14F-4D97-AF65-F5344CB8AC3E}">
        <p14:creationId xmlns:p14="http://schemas.microsoft.com/office/powerpoint/2010/main" val="370228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 – allows us to use the relevant tool for the intended audience, if they have a preference already. SLAs, security could also be different</a:t>
            </a:r>
          </a:p>
          <a:p>
            <a:r>
              <a:rPr lang="en-US" dirty="0"/>
              <a:t> </a:t>
            </a:r>
          </a:p>
          <a:p>
            <a:r>
              <a:rPr lang="en-US" dirty="0"/>
              <a:t>No centralized area:</a:t>
            </a:r>
          </a:p>
          <a:p>
            <a:pPr marL="171450" indent="-171450">
              <a:buFontTx/>
              <a:buChar char="-"/>
            </a:pPr>
            <a:r>
              <a:rPr lang="en-US" dirty="0"/>
              <a:t>ETL is done within our BI tools, so there isn’t a place to share data outputs for all other users/areas to access</a:t>
            </a:r>
          </a:p>
          <a:p>
            <a:pPr marL="171450" indent="-171450">
              <a:buFontTx/>
              <a:buChar char="-"/>
            </a:pPr>
            <a:r>
              <a:rPr lang="en-US" dirty="0"/>
              <a:t>This makes cross-functional collaboration more difficult to maintain, since our data is very diverse and we want SMEs managing their data</a:t>
            </a:r>
          </a:p>
          <a:p>
            <a:pPr marL="171450" indent="-171450">
              <a:buFontTx/>
              <a:buChar char="-"/>
            </a:pPr>
            <a:r>
              <a:rPr lang="en-US" dirty="0"/>
              <a:t>Leads to many instances of duplicative datasets in different areas of the firm, wasted time re-creating the datasets, and potential inconsistencies/lack of standards in different reports</a:t>
            </a:r>
          </a:p>
          <a:p>
            <a:pPr marL="171450" indent="-171450">
              <a:buFontTx/>
              <a:buChar char="-"/>
            </a:pPr>
            <a:r>
              <a:rPr lang="en-US" dirty="0"/>
              <a:t>Increases load on servers for large data pulls</a:t>
            </a:r>
          </a:p>
          <a:p>
            <a:pPr marL="0" indent="0">
              <a:buFontTx/>
              <a:buNone/>
            </a:pPr>
            <a:endParaRPr lang="en-US" dirty="0"/>
          </a:p>
          <a:p>
            <a:pPr marL="0" indent="0">
              <a:buFontTx/>
              <a:buNone/>
            </a:pPr>
            <a:r>
              <a:rPr lang="en-US" dirty="0"/>
              <a:t>Collab:</a:t>
            </a:r>
          </a:p>
          <a:p>
            <a:pPr marL="171450" indent="-171450">
              <a:buFontTx/>
              <a:buChar char="-"/>
            </a:pPr>
            <a:r>
              <a:rPr lang="en-US" dirty="0"/>
              <a:t>If one team uses Tableau and another Power BI, and they need to work together, it will be very difficult</a:t>
            </a:r>
          </a:p>
          <a:p>
            <a:pPr marL="171450" indent="-171450">
              <a:buFontTx/>
              <a:buChar char="-"/>
            </a:pPr>
            <a:r>
              <a:rPr lang="en-US" dirty="0"/>
              <a:t>Best options: re-create the ETL process, or export data to excel for use in the preferred tool for the project</a:t>
            </a:r>
          </a:p>
          <a:p>
            <a:pPr marL="0" indent="0">
              <a:buFontTx/>
              <a:buNone/>
            </a:pPr>
            <a:endParaRPr lang="en-US" dirty="0"/>
          </a:p>
          <a:p>
            <a:pPr marL="0" indent="0">
              <a:buFontTx/>
              <a:buNone/>
            </a:pPr>
            <a:r>
              <a:rPr lang="en-US" dirty="0"/>
              <a:t>Duplicative efforts:</a:t>
            </a:r>
          </a:p>
          <a:p>
            <a:pPr marL="171450" indent="-171450">
              <a:buFontTx/>
              <a:buChar char="-"/>
            </a:pPr>
            <a:r>
              <a:rPr lang="en-US" dirty="0"/>
              <a:t>Within a single team, developers and using both tools</a:t>
            </a:r>
          </a:p>
          <a:p>
            <a:pPr marL="171450" indent="-171450">
              <a:buFontTx/>
              <a:buChar char="-"/>
            </a:pPr>
            <a:r>
              <a:rPr lang="en-US" dirty="0"/>
              <a:t>If we want to display the same data in both, we have to re-create all the ETL steps in each tool. Can’t do this upstream or using any connectors.</a:t>
            </a:r>
          </a:p>
          <a:p>
            <a:pPr marL="171450" indent="-171450">
              <a:buFontTx/>
              <a:buChar char="-"/>
            </a:pPr>
            <a:r>
              <a:rPr lang="en-US" dirty="0"/>
              <a:t>This leads to having more code to maintain, which can lead to errors and technical debt</a:t>
            </a:r>
          </a:p>
          <a:p>
            <a:pPr marL="171450" indent="-171450">
              <a:buFontTx/>
              <a:buChar char="-"/>
            </a:pPr>
            <a:r>
              <a:rPr lang="en-US" dirty="0"/>
              <a:t>The tableau and Power BI GUI is different, so as the ETL gets more complex – </a:t>
            </a:r>
            <a:r>
              <a:rPr lang="en-US" dirty="0" err="1"/>
              <a:t>eg</a:t>
            </a:r>
            <a:r>
              <a:rPr lang="en-US" dirty="0"/>
              <a:t> writing custom M code or functions – more time will be spent translating code between tools</a:t>
            </a:r>
          </a:p>
          <a:p>
            <a:pPr marL="0" indent="0">
              <a:buFontTx/>
              <a:buNone/>
            </a:pPr>
            <a:endParaRPr lang="en-US" dirty="0"/>
          </a:p>
          <a:p>
            <a:pPr marL="0" indent="0">
              <a:buFontTx/>
              <a:buNone/>
            </a:pPr>
            <a:r>
              <a:rPr lang="en-US" dirty="0"/>
              <a:t>Data governance:</a:t>
            </a:r>
          </a:p>
          <a:p>
            <a:pPr marL="171450" indent="-171450">
              <a:buFontTx/>
              <a:buChar char="-"/>
            </a:pPr>
            <a:r>
              <a:rPr lang="en-US" dirty="0"/>
              <a:t>With the existence of multiple tools and many duplicates of datasets, enforcing data standards becomes more complex</a:t>
            </a:r>
          </a:p>
          <a:p>
            <a:pPr marL="171450" indent="-171450">
              <a:buFontTx/>
              <a:buChar char="-"/>
            </a:pPr>
            <a:r>
              <a:rPr lang="en-US" dirty="0"/>
              <a:t>Rather than having sets of firm-certified data, and managing pipelines for the rest of the data, governance/risk teams may have to do more review work for user reports to ensure data standards are being followed</a:t>
            </a:r>
          </a:p>
        </p:txBody>
      </p:sp>
      <p:sp>
        <p:nvSpPr>
          <p:cNvPr id="4" name="Slide Number Placeholder 3"/>
          <p:cNvSpPr>
            <a:spLocks noGrp="1"/>
          </p:cNvSpPr>
          <p:nvPr>
            <p:ph type="sldNum" sz="quarter" idx="5"/>
          </p:nvPr>
        </p:nvSpPr>
        <p:spPr/>
        <p:txBody>
          <a:bodyPr/>
          <a:lstStyle/>
          <a:p>
            <a:fld id="{9CB98716-6830-4726-8754-F107DE73D649}" type="slidenum">
              <a:rPr lang="en-US" smtClean="0"/>
              <a:t>3</a:t>
            </a:fld>
            <a:endParaRPr lang="en-US"/>
          </a:p>
        </p:txBody>
      </p:sp>
    </p:spTree>
    <p:extLst>
      <p:ext uri="{BB962C8B-B14F-4D97-AF65-F5344CB8AC3E}">
        <p14:creationId xmlns:p14="http://schemas.microsoft.com/office/powerpoint/2010/main" val="572464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8AC6-D555-79B8-3C0F-B46D16A56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85F78-2451-14DE-F914-0D088F38F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AC8EE-7C96-385F-E028-03AFF2EE878D}"/>
              </a:ext>
            </a:extLst>
          </p:cNvPr>
          <p:cNvSpPr>
            <a:spLocks noGrp="1"/>
          </p:cNvSpPr>
          <p:nvPr>
            <p:ph type="body" idx="1"/>
          </p:nvPr>
        </p:nvSpPr>
        <p:spPr/>
        <p:txBody>
          <a:bodyPr/>
          <a:lstStyle/>
          <a:p>
            <a:r>
              <a:rPr lang="en-US" dirty="0"/>
              <a:t>Existing ways analysts work around use of 2 BI tools:</a:t>
            </a:r>
          </a:p>
          <a:p>
            <a:pPr marL="171450" indent="-171450">
              <a:buFontTx/>
              <a:buChar char="-"/>
            </a:pPr>
            <a:r>
              <a:rPr lang="en-US" dirty="0"/>
              <a:t>Duplicate processes: re-writing the queries and ETL processes for each software, which can be time consuming and can lead to issues if future employees don’t know both </a:t>
            </a:r>
            <a:r>
              <a:rPr lang="en-US" dirty="0" err="1"/>
              <a:t>softwares</a:t>
            </a:r>
            <a:r>
              <a:rPr lang="en-US" dirty="0"/>
              <a:t> well</a:t>
            </a:r>
          </a:p>
          <a:p>
            <a:pPr marL="171450" indent="-171450">
              <a:buFontTx/>
              <a:buChar char="-"/>
            </a:pPr>
            <a:r>
              <a:rPr lang="en-US" dirty="0"/>
              <a:t>Exporting data to excel, and re-loading it in to the second software for analysis. This isn’t optimal, and the export itself can take a long time for large datasets</a:t>
            </a:r>
          </a:p>
          <a:p>
            <a:pPr marL="171450" indent="-171450">
              <a:buFontTx/>
              <a:buChar char="-"/>
            </a:pPr>
            <a:r>
              <a:rPr lang="en-US" dirty="0"/>
              <a:t>Using the URL feature of Tableau allows us to have a window into a Power BI report on screen, but filters/similar features won’t work across all visuals which isn’t a great user experience</a:t>
            </a:r>
          </a:p>
        </p:txBody>
      </p:sp>
      <p:sp>
        <p:nvSpPr>
          <p:cNvPr id="4" name="Slide Number Placeholder 3">
            <a:extLst>
              <a:ext uri="{FF2B5EF4-FFF2-40B4-BE49-F238E27FC236}">
                <a16:creationId xmlns:a16="http://schemas.microsoft.com/office/drawing/2014/main" id="{EBCA2B7D-A3BF-3650-21FC-68688646F494}"/>
              </a:ext>
            </a:extLst>
          </p:cNvPr>
          <p:cNvSpPr>
            <a:spLocks noGrp="1"/>
          </p:cNvSpPr>
          <p:nvPr>
            <p:ph type="sldNum" sz="quarter" idx="5"/>
          </p:nvPr>
        </p:nvSpPr>
        <p:spPr/>
        <p:txBody>
          <a:bodyPr/>
          <a:lstStyle/>
          <a:p>
            <a:fld id="{9CB98716-6830-4726-8754-F107DE73D649}" type="slidenum">
              <a:rPr lang="en-US" smtClean="0"/>
              <a:t>4</a:t>
            </a:fld>
            <a:endParaRPr lang="en-US"/>
          </a:p>
        </p:txBody>
      </p:sp>
    </p:spTree>
    <p:extLst>
      <p:ext uri="{BB962C8B-B14F-4D97-AF65-F5344CB8AC3E}">
        <p14:creationId xmlns:p14="http://schemas.microsoft.com/office/powerpoint/2010/main" val="1784790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88C13-1B6F-64BE-CF11-49B38468B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1E74C-FD35-2663-136B-5A08259BE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D0059-3962-57F8-F07C-19D25F45FA0B}"/>
              </a:ext>
            </a:extLst>
          </p:cNvPr>
          <p:cNvSpPr>
            <a:spLocks noGrp="1"/>
          </p:cNvSpPr>
          <p:nvPr>
            <p:ph type="body" idx="1"/>
          </p:nvPr>
        </p:nvSpPr>
        <p:spPr/>
        <p:txBody>
          <a:bodyPr/>
          <a:lstStyle/>
          <a:p>
            <a:pPr marL="0" indent="0">
              <a:buFontTx/>
              <a:buNone/>
            </a:pPr>
            <a:r>
              <a:rPr lang="en-US" dirty="0"/>
              <a:t>Long term:</a:t>
            </a:r>
          </a:p>
          <a:p>
            <a:pPr marL="171450" indent="-171450">
              <a:buFontTx/>
              <a:buChar char="-"/>
            </a:pPr>
            <a:r>
              <a:rPr lang="en-US" dirty="0"/>
              <a:t>Firm has explored upstream ETL tools, </a:t>
            </a:r>
            <a:r>
              <a:rPr lang="en-US" dirty="0" err="1"/>
              <a:t>eg</a:t>
            </a:r>
            <a:r>
              <a:rPr lang="en-US" dirty="0"/>
              <a:t> Databricks or similar. If users can do their ETL and store it external of a viz tool, that will allow them to more easily create visuals in their choice of tool</a:t>
            </a:r>
          </a:p>
          <a:p>
            <a:pPr marL="171450" indent="-171450">
              <a:buFontTx/>
              <a:buChar char="-"/>
            </a:pPr>
            <a:r>
              <a:rPr lang="en-US" dirty="0"/>
              <a:t>There is a connector that would allow Tableau to display BI semantic model data. We haven’t had the opportunity to test, and it would not be as preferred as an official ETL tool, but it could be an intermediate step to solve analyst issues</a:t>
            </a:r>
          </a:p>
        </p:txBody>
      </p:sp>
      <p:sp>
        <p:nvSpPr>
          <p:cNvPr id="4" name="Slide Number Placeholder 3">
            <a:extLst>
              <a:ext uri="{FF2B5EF4-FFF2-40B4-BE49-F238E27FC236}">
                <a16:creationId xmlns:a16="http://schemas.microsoft.com/office/drawing/2014/main" id="{A55CCF57-0F61-9526-31F9-49EA28B55527}"/>
              </a:ext>
            </a:extLst>
          </p:cNvPr>
          <p:cNvSpPr>
            <a:spLocks noGrp="1"/>
          </p:cNvSpPr>
          <p:nvPr>
            <p:ph type="sldNum" sz="quarter" idx="5"/>
          </p:nvPr>
        </p:nvSpPr>
        <p:spPr/>
        <p:txBody>
          <a:bodyPr/>
          <a:lstStyle/>
          <a:p>
            <a:fld id="{9CB98716-6830-4726-8754-F107DE73D649}" type="slidenum">
              <a:rPr lang="en-US" smtClean="0"/>
              <a:t>5</a:t>
            </a:fld>
            <a:endParaRPr lang="en-US"/>
          </a:p>
        </p:txBody>
      </p:sp>
    </p:spTree>
    <p:extLst>
      <p:ext uri="{BB962C8B-B14F-4D97-AF65-F5344CB8AC3E}">
        <p14:creationId xmlns:p14="http://schemas.microsoft.com/office/powerpoint/2010/main" val="2895470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3D6D-9FC1-554D-54A1-C1BD8D5E3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59223-C04F-E3EF-957C-A9D6F974C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556C5-5128-1613-FA07-41695825ABA6}"/>
              </a:ext>
            </a:extLst>
          </p:cNvPr>
          <p:cNvSpPr>
            <a:spLocks noGrp="1"/>
          </p:cNvSpPr>
          <p:nvPr>
            <p:ph type="body" idx="1"/>
          </p:nvPr>
        </p:nvSpPr>
        <p:spPr/>
        <p:txBody>
          <a:bodyPr/>
          <a:lstStyle/>
          <a:p>
            <a:r>
              <a:rPr lang="en-US" dirty="0"/>
              <a:t>Pros – can use both tools as needed, and ensure clients/end users get the reporting method best for them</a:t>
            </a:r>
          </a:p>
          <a:p>
            <a:endParaRPr lang="en-US" dirty="0"/>
          </a:p>
          <a:p>
            <a:r>
              <a:rPr lang="en-US" dirty="0"/>
              <a:t>Transferability – if one analyst is better at BI, another at Tableau, they will have difficulty maintaining each other’s work. Harder to have backups/consolidate teams.</a:t>
            </a:r>
          </a:p>
          <a:p>
            <a:r>
              <a:rPr lang="en-US" dirty="0"/>
              <a:t>Support – need more product owners and management, and 2 tools =  2 licenses and the money accompanying that</a:t>
            </a:r>
          </a:p>
          <a:p>
            <a:r>
              <a:rPr lang="en-US" dirty="0"/>
              <a:t>Compute – no ETL tool leads to more sever hits</a:t>
            </a:r>
          </a:p>
          <a:p>
            <a:r>
              <a:rPr lang="en-US" dirty="0"/>
              <a:t>Maintenance – the more items that are duplicated, the more maintenance is required which means less actively productive work</a:t>
            </a:r>
          </a:p>
          <a:p>
            <a:r>
              <a:rPr lang="en-US" dirty="0"/>
              <a:t>Governance – no centralized, curated data sources will make it more difficult to build robust review pipelines</a:t>
            </a:r>
          </a:p>
        </p:txBody>
      </p:sp>
      <p:sp>
        <p:nvSpPr>
          <p:cNvPr id="4" name="Slide Number Placeholder 3">
            <a:extLst>
              <a:ext uri="{FF2B5EF4-FFF2-40B4-BE49-F238E27FC236}">
                <a16:creationId xmlns:a16="http://schemas.microsoft.com/office/drawing/2014/main" id="{22287D7A-74C0-016F-D6F1-E3F27AD42BD9}"/>
              </a:ext>
            </a:extLst>
          </p:cNvPr>
          <p:cNvSpPr>
            <a:spLocks noGrp="1"/>
          </p:cNvSpPr>
          <p:nvPr>
            <p:ph type="sldNum" sz="quarter" idx="5"/>
          </p:nvPr>
        </p:nvSpPr>
        <p:spPr/>
        <p:txBody>
          <a:bodyPr/>
          <a:lstStyle/>
          <a:p>
            <a:fld id="{9CB98716-6830-4726-8754-F107DE73D649}" type="slidenum">
              <a:rPr lang="en-US" smtClean="0"/>
              <a:t>6</a:t>
            </a:fld>
            <a:endParaRPr lang="en-US"/>
          </a:p>
        </p:txBody>
      </p:sp>
    </p:spTree>
    <p:extLst>
      <p:ext uri="{BB962C8B-B14F-4D97-AF65-F5344CB8AC3E}">
        <p14:creationId xmlns:p14="http://schemas.microsoft.com/office/powerpoint/2010/main" val="2283057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ways analysts work around use of 2 BI tools:</a:t>
            </a:r>
          </a:p>
          <a:p>
            <a:pPr marL="171450" indent="-171450">
              <a:buFontTx/>
              <a:buChar char="-"/>
            </a:pPr>
            <a:r>
              <a:rPr lang="en-US" dirty="0"/>
              <a:t>Duplicate processes: re-writing the queries and ETL processes for each software, which can be time consuming and can lead to issues if future employees don’t know both </a:t>
            </a:r>
            <a:r>
              <a:rPr lang="en-US" dirty="0" err="1"/>
              <a:t>softwares</a:t>
            </a:r>
            <a:r>
              <a:rPr lang="en-US" dirty="0"/>
              <a:t> well</a:t>
            </a:r>
          </a:p>
          <a:p>
            <a:pPr marL="171450" indent="-171450">
              <a:buFontTx/>
              <a:buChar char="-"/>
            </a:pPr>
            <a:r>
              <a:rPr lang="en-US" dirty="0"/>
              <a:t>Exporting data to excel, and re-loading it in to the second software for analysis. This isn’t optimal, and the export itself can take a long time for large datasets</a:t>
            </a:r>
          </a:p>
          <a:p>
            <a:pPr marL="171450" indent="-171450">
              <a:buFontTx/>
              <a:buChar char="-"/>
            </a:pPr>
            <a:r>
              <a:rPr lang="en-US" dirty="0"/>
              <a:t>Using the URL feature of Tableau allows us to have a window into a Power BI report on screen, but filters/similar features won’t work across all visuals which isn’t a great user experience</a:t>
            </a:r>
          </a:p>
          <a:p>
            <a:pPr marL="171450" indent="-171450">
              <a:buFontTx/>
              <a:buChar char="-"/>
            </a:pPr>
            <a:endParaRPr lang="en-US" dirty="0"/>
          </a:p>
          <a:p>
            <a:pPr marL="0" indent="0">
              <a:buFontTx/>
              <a:buNone/>
            </a:pPr>
            <a:r>
              <a:rPr lang="en-US" dirty="0"/>
              <a:t>Long term:</a:t>
            </a:r>
          </a:p>
          <a:p>
            <a:pPr marL="171450" indent="-171450">
              <a:buFontTx/>
              <a:buChar char="-"/>
            </a:pPr>
            <a:r>
              <a:rPr lang="en-US" dirty="0"/>
              <a:t>Firm has explored upstream ETL tools, </a:t>
            </a:r>
            <a:r>
              <a:rPr lang="en-US" dirty="0" err="1"/>
              <a:t>eg</a:t>
            </a:r>
            <a:r>
              <a:rPr lang="en-US" dirty="0"/>
              <a:t> Databricks or similar. If users can do their ETL and store it external of a viz tool, that will allow them to more easily create visuals in their choice of tool</a:t>
            </a:r>
          </a:p>
          <a:p>
            <a:pPr marL="171450" indent="-171450">
              <a:buFontTx/>
              <a:buChar char="-"/>
            </a:pPr>
            <a:r>
              <a:rPr lang="en-US" dirty="0"/>
              <a:t>There is a connector that would allow Tableau to display BI semantic model data. We haven’t had the opportunity to test, and it would not be as preferred as an official ETL tool, but it could be an intermediate step to solve analyst issues</a:t>
            </a:r>
          </a:p>
        </p:txBody>
      </p:sp>
      <p:sp>
        <p:nvSpPr>
          <p:cNvPr id="4" name="Slide Number Placeholder 3"/>
          <p:cNvSpPr>
            <a:spLocks noGrp="1"/>
          </p:cNvSpPr>
          <p:nvPr>
            <p:ph type="sldNum" sz="quarter" idx="5"/>
          </p:nvPr>
        </p:nvSpPr>
        <p:spPr/>
        <p:txBody>
          <a:bodyPr/>
          <a:lstStyle/>
          <a:p>
            <a:fld id="{9CB98716-6830-4726-8754-F107DE73D649}" type="slidenum">
              <a:rPr lang="en-US" smtClean="0"/>
              <a:t>8</a:t>
            </a:fld>
            <a:endParaRPr lang="en-US"/>
          </a:p>
        </p:txBody>
      </p:sp>
    </p:spTree>
    <p:extLst>
      <p:ext uri="{BB962C8B-B14F-4D97-AF65-F5344CB8AC3E}">
        <p14:creationId xmlns:p14="http://schemas.microsoft.com/office/powerpoint/2010/main" val="1379540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5EAF6-6EE1-553E-80AE-7FD73E505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79862-D2C3-A114-0EDC-B491B8E04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64D3E-3B89-1967-B5B8-88F9B2FB6861}"/>
              </a:ext>
            </a:extLst>
          </p:cNvPr>
          <p:cNvSpPr>
            <a:spLocks noGrp="1"/>
          </p:cNvSpPr>
          <p:nvPr>
            <p:ph type="body" idx="1"/>
          </p:nvPr>
        </p:nvSpPr>
        <p:spPr/>
        <p:txBody>
          <a:bodyPr/>
          <a:lstStyle/>
          <a:p>
            <a:r>
              <a:rPr lang="en-US" dirty="0"/>
              <a:t>General data landscape at the firm:</a:t>
            </a:r>
          </a:p>
          <a:p>
            <a:pPr marL="171450" indent="-171450">
              <a:buFontTx/>
              <a:buChar char="-"/>
            </a:pPr>
            <a:r>
              <a:rPr lang="en-US" dirty="0"/>
              <a:t>Data source layer, which includes several databases, excel, SP, etc.. Newly emerging ETL tools like </a:t>
            </a:r>
            <a:r>
              <a:rPr lang="en-US" dirty="0" err="1"/>
              <a:t>databricks</a:t>
            </a:r>
            <a:endParaRPr lang="en-US" dirty="0"/>
          </a:p>
          <a:p>
            <a:pPr marL="171450" indent="-171450">
              <a:buFontTx/>
              <a:buChar char="-"/>
            </a:pPr>
            <a:r>
              <a:rPr lang="en-US" dirty="0"/>
              <a:t>Viz tools: Power BI, Tableau, and their corresponding Prep tools</a:t>
            </a:r>
          </a:p>
        </p:txBody>
      </p:sp>
      <p:sp>
        <p:nvSpPr>
          <p:cNvPr id="4" name="Slide Number Placeholder 3">
            <a:extLst>
              <a:ext uri="{FF2B5EF4-FFF2-40B4-BE49-F238E27FC236}">
                <a16:creationId xmlns:a16="http://schemas.microsoft.com/office/drawing/2014/main" id="{760A7611-09AD-120D-D012-3FC7DDC530B6}"/>
              </a:ext>
            </a:extLst>
          </p:cNvPr>
          <p:cNvSpPr>
            <a:spLocks noGrp="1"/>
          </p:cNvSpPr>
          <p:nvPr>
            <p:ph type="sldNum" sz="quarter" idx="5"/>
          </p:nvPr>
        </p:nvSpPr>
        <p:spPr/>
        <p:txBody>
          <a:bodyPr/>
          <a:lstStyle/>
          <a:p>
            <a:fld id="{9CB98716-6830-4726-8754-F107DE73D649}" type="slidenum">
              <a:rPr lang="en-US" smtClean="0"/>
              <a:t>9</a:t>
            </a:fld>
            <a:endParaRPr lang="en-US"/>
          </a:p>
        </p:txBody>
      </p:sp>
    </p:spTree>
    <p:extLst>
      <p:ext uri="{BB962C8B-B14F-4D97-AF65-F5344CB8AC3E}">
        <p14:creationId xmlns:p14="http://schemas.microsoft.com/office/powerpoint/2010/main" val="3889640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74C7-6602-5634-AF40-7EF66DC503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452570-8CCE-2357-4BF1-6793657BD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68C9E0-9B1E-E48C-21DB-5A32353E5B3D}"/>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D27501DD-3559-C27E-383B-C58CCD78B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9C152-0AC0-EDF0-51C3-50498E9EF53A}"/>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50545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9E93-BEE7-68BF-966F-2D58D01A9F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C50AC-E88A-FC90-1D2B-3389F38F2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BB67B-C35D-EB4D-8A18-BED06CA0C79F}"/>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9082008A-70CE-3D25-3294-D732B6E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BED52-1B33-0761-27D4-D381CA3A72B3}"/>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233846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F04C-50AD-8FFA-80A6-8713D6EE7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A26162-8E13-D4CD-2BEE-B585345B01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32A4BC-5A2F-3EA8-36DF-18AFDAA75491}"/>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10F57DDA-57C6-464A-FE11-B703DEF7E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980B4-A8E5-7878-27FF-577FC7BB193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898569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3FCC-3D2C-1B0C-13A1-3ED2D7DAE4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D32B32-6734-AD68-B532-B4E80E07F5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A191EB-A9EF-6AFA-1B1D-987957CD7B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5D5B85-917F-AC26-0E7D-664BFF23BA81}"/>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6" name="Footer Placeholder 5">
            <a:extLst>
              <a:ext uri="{FF2B5EF4-FFF2-40B4-BE49-F238E27FC236}">
                <a16:creationId xmlns:a16="http://schemas.microsoft.com/office/drawing/2014/main" id="{59A0CF8F-82C0-FD5A-286F-2E20DBA40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03E44D-8576-C9F5-2505-CF6DFF7B7AB0}"/>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94964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07FB-F895-BF2C-72B1-91C2FDB18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CDB67D-B170-C887-371F-A1F21B4D07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150C3-B7EC-640B-6DBF-49CE86D80B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4BF941-58E8-509C-7BF1-E0E9E1B66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4C80BF-063B-75FC-1699-7327E01A6C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3BB885-EA20-D9B0-92EA-1A711CF52AD9}"/>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8" name="Footer Placeholder 7">
            <a:extLst>
              <a:ext uri="{FF2B5EF4-FFF2-40B4-BE49-F238E27FC236}">
                <a16:creationId xmlns:a16="http://schemas.microsoft.com/office/drawing/2014/main" id="{CF539981-6B88-8F9D-CA77-C8F2268A9D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BAC19A-66C4-FB50-2886-A1735D98646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661771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DC8B-ED13-AB4A-6599-1C27BF905D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4080F4-0361-C4CA-A33C-E4E6C40F6E1A}"/>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4" name="Footer Placeholder 3">
            <a:extLst>
              <a:ext uri="{FF2B5EF4-FFF2-40B4-BE49-F238E27FC236}">
                <a16:creationId xmlns:a16="http://schemas.microsoft.com/office/drawing/2014/main" id="{A4348E4C-79A8-52AF-9E35-592126E1E4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9C62B-BE6A-599B-86CE-A78BB47E16E6}"/>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130437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5FA291-9722-4305-6D0B-333ED166D9F8}"/>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3" name="Footer Placeholder 2">
            <a:extLst>
              <a:ext uri="{FF2B5EF4-FFF2-40B4-BE49-F238E27FC236}">
                <a16:creationId xmlns:a16="http://schemas.microsoft.com/office/drawing/2014/main" id="{04310424-EC54-31B5-585E-6987CB3240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A4385D-52CB-CC43-36EC-0DB5BB24FD9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21741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18C0-D6C7-51A8-3F28-6726A94AA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F174D4-F8DC-69A1-642A-AD7DACDAE3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8F21A9-11BA-FFC7-0FA2-0ACF5E1CC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2DF30-AB8A-ABFE-A1E3-9F6A77F34A80}"/>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6" name="Footer Placeholder 5">
            <a:extLst>
              <a:ext uri="{FF2B5EF4-FFF2-40B4-BE49-F238E27FC236}">
                <a16:creationId xmlns:a16="http://schemas.microsoft.com/office/drawing/2014/main" id="{F8C1E3B3-F2E3-D006-C607-8052A8C18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118B1-C787-1A3D-EDD6-0965CF3765C4}"/>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498154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DCD8-24E8-084F-FE3E-FD8746667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C13100-3D1F-3944-DE97-D4F3008615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EA9678-F698-B9D6-C492-92238EDFE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7F9BD-A289-6813-91C4-B94F576D4FCA}"/>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6" name="Footer Placeholder 5">
            <a:extLst>
              <a:ext uri="{FF2B5EF4-FFF2-40B4-BE49-F238E27FC236}">
                <a16:creationId xmlns:a16="http://schemas.microsoft.com/office/drawing/2014/main" id="{1252DD73-4C38-948A-C71C-443A4E589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41126-BB1F-8E73-D77B-C17048DD800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5693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1572-ECDF-91F0-761B-5C61A395A0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B90A78-1FC3-A0A4-DD3B-0EB206A65B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DFADA-576B-915D-5EE7-AD1303B53AD8}"/>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BE788D98-B30E-520C-36FE-99E5FFDC0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D777B-C210-DDBE-94BF-9424AA47A918}"/>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8950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A94FDD-0466-6CAE-A2DB-BC7C45D04C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2AF07B-F4A3-253F-E82E-1F6D67EAC4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063C4-9DCB-A92D-078A-2E24F1BF0DF9}"/>
              </a:ext>
            </a:extLst>
          </p:cNvPr>
          <p:cNvSpPr>
            <a:spLocks noGrp="1"/>
          </p:cNvSpPr>
          <p:nvPr>
            <p:ph type="dt" sz="half" idx="10"/>
          </p:nvPr>
        </p:nvSpPr>
        <p:spPr/>
        <p:txBody>
          <a:body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E75357C5-AA2E-0F83-AAB9-098ADEEFFC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30319-342D-CA42-9322-B9DF313D782F}"/>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2503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658145-4053-267C-E721-F96B76D1B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BBBE60-3944-559E-B851-383394036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213176-320D-F564-41A1-CF26176067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7FC4FF-A5B5-49B5-AF2E-5BC38B72E229}" type="datetimeFigureOut">
              <a:rPr lang="en-US" smtClean="0"/>
              <a:t>6/5/2025</a:t>
            </a:fld>
            <a:endParaRPr lang="en-US"/>
          </a:p>
        </p:txBody>
      </p:sp>
      <p:sp>
        <p:nvSpPr>
          <p:cNvPr id="5" name="Footer Placeholder 4">
            <a:extLst>
              <a:ext uri="{FF2B5EF4-FFF2-40B4-BE49-F238E27FC236}">
                <a16:creationId xmlns:a16="http://schemas.microsoft.com/office/drawing/2014/main" id="{4BDB44F6-A74B-AA7E-511D-694288BD5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9C228F-6BA1-A30F-C407-CB384F8C27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49ABBF-AF86-4092-A785-512059A90E4D}" type="slidenum">
              <a:rPr lang="en-US" smtClean="0"/>
              <a:t>‹#›</a:t>
            </a:fld>
            <a:endParaRPr lang="en-US"/>
          </a:p>
        </p:txBody>
      </p:sp>
    </p:spTree>
    <p:extLst>
      <p:ext uri="{BB962C8B-B14F-4D97-AF65-F5344CB8AC3E}">
        <p14:creationId xmlns:p14="http://schemas.microsoft.com/office/powerpoint/2010/main" val="319278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4A76E52-93FD-ECE2-838F-3424232AE5BC}"/>
              </a:ext>
            </a:extLst>
          </p:cNvPr>
          <p:cNvSpPr>
            <a:spLocks noGrp="1"/>
          </p:cNvSpPr>
          <p:nvPr>
            <p:ph type="ctrTitle"/>
          </p:nvPr>
        </p:nvSpPr>
        <p:spPr>
          <a:xfrm>
            <a:off x="216310" y="735106"/>
            <a:ext cx="11857703" cy="2928470"/>
          </a:xfrm>
        </p:spPr>
        <p:txBody>
          <a:bodyPr anchor="b">
            <a:normAutofit/>
          </a:bodyPr>
          <a:lstStyle/>
          <a:p>
            <a:pPr algn="l"/>
            <a:r>
              <a:rPr lang="en-US" sz="4400" dirty="0">
                <a:solidFill>
                  <a:srgbClr val="FFFFFF"/>
                </a:solidFill>
              </a:rPr>
              <a:t>Examining the Impacts of Using 2 BI Tools In My Organization</a:t>
            </a:r>
          </a:p>
        </p:txBody>
      </p:sp>
      <p:sp>
        <p:nvSpPr>
          <p:cNvPr id="3" name="Subtitle 2">
            <a:extLst>
              <a:ext uri="{FF2B5EF4-FFF2-40B4-BE49-F238E27FC236}">
                <a16:creationId xmlns:a16="http://schemas.microsoft.com/office/drawing/2014/main" id="{14F9D5C3-BFA8-B1E3-2021-DB4124A4DEEE}"/>
              </a:ext>
            </a:extLst>
          </p:cNvPr>
          <p:cNvSpPr>
            <a:spLocks noGrp="1"/>
          </p:cNvSpPr>
          <p:nvPr>
            <p:ph type="subTitle" idx="1"/>
          </p:nvPr>
        </p:nvSpPr>
        <p:spPr>
          <a:xfrm>
            <a:off x="1350682" y="4870824"/>
            <a:ext cx="10005951" cy="1458258"/>
          </a:xfrm>
        </p:spPr>
        <p:txBody>
          <a:bodyPr anchor="ctr">
            <a:normAutofit/>
          </a:bodyPr>
          <a:lstStyle/>
          <a:p>
            <a:pPr algn="l"/>
            <a:r>
              <a:rPr lang="en-US" dirty="0"/>
              <a:t>Allan Khariton – Sr Data &amp; BI Analyst, Edward Jones</a:t>
            </a:r>
          </a:p>
        </p:txBody>
      </p:sp>
    </p:spTree>
    <p:extLst>
      <p:ext uri="{BB962C8B-B14F-4D97-AF65-F5344CB8AC3E}">
        <p14:creationId xmlns:p14="http://schemas.microsoft.com/office/powerpoint/2010/main" val="298171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430E5-534D-D700-3EF5-473C788802B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Current Business Intelligence Landscape</a:t>
            </a:r>
          </a:p>
        </p:txBody>
      </p:sp>
      <p:sp>
        <p:nvSpPr>
          <p:cNvPr id="17" name="Rectangle: Rounded Corners 16">
            <a:extLst>
              <a:ext uri="{FF2B5EF4-FFF2-40B4-BE49-F238E27FC236}">
                <a16:creationId xmlns:a16="http://schemas.microsoft.com/office/drawing/2014/main" id="{C0AFC0ED-0AE9-D45A-254F-A20822C298EB}"/>
              </a:ext>
            </a:extLst>
          </p:cNvPr>
          <p:cNvSpPr/>
          <p:nvPr/>
        </p:nvSpPr>
        <p:spPr>
          <a:xfrm>
            <a:off x="4714888" y="4151832"/>
            <a:ext cx="6878557" cy="14551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ETL + Visualization Tools</a:t>
            </a:r>
          </a:p>
          <a:p>
            <a:pPr algn="ctr"/>
            <a:endParaRPr lang="en-US" dirty="0"/>
          </a:p>
          <a:p>
            <a:pPr algn="ctr"/>
            <a:endParaRPr lang="en-US" dirty="0"/>
          </a:p>
          <a:p>
            <a:pPr algn="ctr"/>
            <a:endParaRPr lang="en-US" dirty="0"/>
          </a:p>
          <a:p>
            <a:pPr algn="ctr"/>
            <a:endParaRPr lang="en-US" dirty="0"/>
          </a:p>
        </p:txBody>
      </p:sp>
      <p:sp>
        <p:nvSpPr>
          <p:cNvPr id="19" name="Rectangle: Rounded Corners 18">
            <a:extLst>
              <a:ext uri="{FF2B5EF4-FFF2-40B4-BE49-F238E27FC236}">
                <a16:creationId xmlns:a16="http://schemas.microsoft.com/office/drawing/2014/main" id="{C7E19327-36D5-E9B2-E118-66B5A6B2901E}"/>
              </a:ext>
            </a:extLst>
          </p:cNvPr>
          <p:cNvSpPr/>
          <p:nvPr/>
        </p:nvSpPr>
        <p:spPr>
          <a:xfrm>
            <a:off x="6118402" y="462607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Power BI</a:t>
            </a:r>
          </a:p>
        </p:txBody>
      </p:sp>
      <p:pic>
        <p:nvPicPr>
          <p:cNvPr id="1030" name="Picture 6">
            <a:extLst>
              <a:ext uri="{FF2B5EF4-FFF2-40B4-BE49-F238E27FC236}">
                <a16:creationId xmlns:a16="http://schemas.microsoft.com/office/drawing/2014/main" id="{EDEA2AEB-6D73-225A-76CA-6DA7A02D8D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083"/>
          <a:stretch>
            <a:fillRect/>
          </a:stretch>
        </p:blipFill>
        <p:spPr bwMode="auto">
          <a:xfrm>
            <a:off x="4733575" y="900831"/>
            <a:ext cx="6841185" cy="20896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1" name="Rectangle: Rounded Corners 20">
            <a:extLst>
              <a:ext uri="{FF2B5EF4-FFF2-40B4-BE49-F238E27FC236}">
                <a16:creationId xmlns:a16="http://schemas.microsoft.com/office/drawing/2014/main" id="{CF2FE313-A93E-1F0C-66F9-EEBEB27C9C5F}"/>
              </a:ext>
            </a:extLst>
          </p:cNvPr>
          <p:cNvSpPr/>
          <p:nvPr/>
        </p:nvSpPr>
        <p:spPr>
          <a:xfrm>
            <a:off x="8110240" y="462607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Tableau</a:t>
            </a:r>
          </a:p>
        </p:txBody>
      </p:sp>
      <p:cxnSp>
        <p:nvCxnSpPr>
          <p:cNvPr id="24" name="Straight Arrow Connector 23">
            <a:extLst>
              <a:ext uri="{FF2B5EF4-FFF2-40B4-BE49-F238E27FC236}">
                <a16:creationId xmlns:a16="http://schemas.microsoft.com/office/drawing/2014/main" id="{08EDB33E-3A10-2399-F770-D781569233C0}"/>
              </a:ext>
            </a:extLst>
          </p:cNvPr>
          <p:cNvCxnSpPr>
            <a:cxnSpLocks/>
            <a:stCxn id="1030" idx="2"/>
            <a:endCxn id="17" idx="0"/>
          </p:cNvCxnSpPr>
          <p:nvPr/>
        </p:nvCxnSpPr>
        <p:spPr>
          <a:xfrm flipH="1">
            <a:off x="8154167" y="2990497"/>
            <a:ext cx="1" cy="1161335"/>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pic>
        <p:nvPicPr>
          <p:cNvPr id="9" name="Graphic 8" descr="Rubber duck with solid fill">
            <a:extLst>
              <a:ext uri="{FF2B5EF4-FFF2-40B4-BE49-F238E27FC236}">
                <a16:creationId xmlns:a16="http://schemas.microsoft.com/office/drawing/2014/main" id="{BB3E8FD9-2C83-D8A5-900A-2B9A48B80E2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22933" y="586855"/>
            <a:ext cx="1897626" cy="1897626"/>
          </a:xfrm>
          <a:prstGeom prst="rect">
            <a:avLst/>
          </a:prstGeom>
        </p:spPr>
      </p:pic>
      <p:sp>
        <p:nvSpPr>
          <p:cNvPr id="15" name="TextBox 14">
            <a:extLst>
              <a:ext uri="{FF2B5EF4-FFF2-40B4-BE49-F238E27FC236}">
                <a16:creationId xmlns:a16="http://schemas.microsoft.com/office/drawing/2014/main" id="{8690A0D0-6CD5-662B-51C3-9907FEF3F829}"/>
              </a:ext>
            </a:extLst>
          </p:cNvPr>
          <p:cNvSpPr txBox="1"/>
          <p:nvPr/>
        </p:nvSpPr>
        <p:spPr>
          <a:xfrm>
            <a:off x="4924321" y="1574691"/>
            <a:ext cx="1318861" cy="369332"/>
          </a:xfrm>
          <a:prstGeom prst="rect">
            <a:avLst/>
          </a:prstGeom>
          <a:noFill/>
        </p:spPr>
        <p:txBody>
          <a:bodyPr wrap="square" rtlCol="0">
            <a:spAutoFit/>
          </a:bodyPr>
          <a:lstStyle/>
          <a:p>
            <a:r>
              <a:rPr lang="en-US" dirty="0"/>
              <a:t>Databases</a:t>
            </a:r>
          </a:p>
        </p:txBody>
      </p:sp>
      <p:pic>
        <p:nvPicPr>
          <p:cNvPr id="22" name="Graphic 21" descr="Rubber duck with solid fill">
            <a:extLst>
              <a:ext uri="{FF2B5EF4-FFF2-40B4-BE49-F238E27FC236}">
                <a16:creationId xmlns:a16="http://schemas.microsoft.com/office/drawing/2014/main" id="{CC180CC6-C9BA-1F86-3974-1F5DD2F7C2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81059" y="936595"/>
            <a:ext cx="1897626" cy="1897626"/>
          </a:xfrm>
          <a:prstGeom prst="rect">
            <a:avLst/>
          </a:prstGeom>
        </p:spPr>
      </p:pic>
      <p:pic>
        <p:nvPicPr>
          <p:cNvPr id="23" name="Graphic 22" descr="Rubber duck with solid fill">
            <a:extLst>
              <a:ext uri="{FF2B5EF4-FFF2-40B4-BE49-F238E27FC236}">
                <a16:creationId xmlns:a16="http://schemas.microsoft.com/office/drawing/2014/main" id="{CEFD8115-CE43-74CA-5804-E39AD3B83D7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72828" y="1380399"/>
            <a:ext cx="1897626" cy="1897626"/>
          </a:xfrm>
          <a:prstGeom prst="rect">
            <a:avLst/>
          </a:prstGeom>
        </p:spPr>
      </p:pic>
      <p:sp>
        <p:nvSpPr>
          <p:cNvPr id="25" name="TextBox 24">
            <a:extLst>
              <a:ext uri="{FF2B5EF4-FFF2-40B4-BE49-F238E27FC236}">
                <a16:creationId xmlns:a16="http://schemas.microsoft.com/office/drawing/2014/main" id="{48F6E6C6-11CE-E174-1DB0-B09C0D48D20D}"/>
              </a:ext>
            </a:extLst>
          </p:cNvPr>
          <p:cNvSpPr txBox="1"/>
          <p:nvPr/>
        </p:nvSpPr>
        <p:spPr>
          <a:xfrm>
            <a:off x="7394355" y="1923958"/>
            <a:ext cx="1318861" cy="369332"/>
          </a:xfrm>
          <a:prstGeom prst="rect">
            <a:avLst/>
          </a:prstGeom>
          <a:noFill/>
        </p:spPr>
        <p:txBody>
          <a:bodyPr wrap="square" rtlCol="0">
            <a:spAutoFit/>
          </a:bodyPr>
          <a:lstStyle/>
          <a:p>
            <a:r>
              <a:rPr lang="en-US" dirty="0"/>
              <a:t>SharePoint</a:t>
            </a:r>
          </a:p>
        </p:txBody>
      </p:sp>
      <p:sp>
        <p:nvSpPr>
          <p:cNvPr id="26" name="TextBox 25">
            <a:extLst>
              <a:ext uri="{FF2B5EF4-FFF2-40B4-BE49-F238E27FC236}">
                <a16:creationId xmlns:a16="http://schemas.microsoft.com/office/drawing/2014/main" id="{863552EC-7D0E-B0DE-3BFC-7490B6669466}"/>
              </a:ext>
            </a:extLst>
          </p:cNvPr>
          <p:cNvSpPr txBox="1"/>
          <p:nvPr/>
        </p:nvSpPr>
        <p:spPr>
          <a:xfrm>
            <a:off x="10278950" y="2344880"/>
            <a:ext cx="797188" cy="369332"/>
          </a:xfrm>
          <a:prstGeom prst="rect">
            <a:avLst/>
          </a:prstGeom>
          <a:noFill/>
        </p:spPr>
        <p:txBody>
          <a:bodyPr wrap="square" rtlCol="0">
            <a:spAutoFit/>
          </a:bodyPr>
          <a:lstStyle/>
          <a:p>
            <a:r>
              <a:rPr lang="en-US" dirty="0">
                <a:solidFill>
                  <a:schemeClr val="bg1"/>
                </a:solidFill>
              </a:rPr>
              <a:t>Excel</a:t>
            </a:r>
          </a:p>
        </p:txBody>
      </p:sp>
      <p:pic>
        <p:nvPicPr>
          <p:cNvPr id="27" name="Graphic 26" descr="Rubber duck with solid fill">
            <a:extLst>
              <a:ext uri="{FF2B5EF4-FFF2-40B4-BE49-F238E27FC236}">
                <a16:creationId xmlns:a16="http://schemas.microsoft.com/office/drawing/2014/main" id="{B61E116B-841B-C466-E8D9-2BD8E4D352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0786" y="1244270"/>
            <a:ext cx="423656" cy="423656"/>
          </a:xfrm>
          <a:prstGeom prst="rect">
            <a:avLst/>
          </a:prstGeom>
        </p:spPr>
      </p:pic>
      <p:pic>
        <p:nvPicPr>
          <p:cNvPr id="28" name="Graphic 27" descr="Rubber duck with solid fill">
            <a:extLst>
              <a:ext uri="{FF2B5EF4-FFF2-40B4-BE49-F238E27FC236}">
                <a16:creationId xmlns:a16="http://schemas.microsoft.com/office/drawing/2014/main" id="{2E2BBD21-AD13-CBD9-B3C3-0814C3E531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0876" y="2307236"/>
            <a:ext cx="423656" cy="423656"/>
          </a:xfrm>
          <a:prstGeom prst="rect">
            <a:avLst/>
          </a:prstGeom>
        </p:spPr>
      </p:pic>
      <p:pic>
        <p:nvPicPr>
          <p:cNvPr id="29" name="Graphic 28" descr="Rubber duck with solid fill">
            <a:extLst>
              <a:ext uri="{FF2B5EF4-FFF2-40B4-BE49-F238E27FC236}">
                <a16:creationId xmlns:a16="http://schemas.microsoft.com/office/drawing/2014/main" id="{8F41A073-CA8A-8F4B-7774-5E7280B046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77273" y="1955644"/>
            <a:ext cx="423656" cy="423656"/>
          </a:xfrm>
          <a:prstGeom prst="rect">
            <a:avLst/>
          </a:prstGeom>
        </p:spPr>
      </p:pic>
      <p:sp>
        <p:nvSpPr>
          <p:cNvPr id="30" name="TextBox 29">
            <a:extLst>
              <a:ext uri="{FF2B5EF4-FFF2-40B4-BE49-F238E27FC236}">
                <a16:creationId xmlns:a16="http://schemas.microsoft.com/office/drawing/2014/main" id="{54C0FBBE-54AE-DE5E-EBF5-5C7FC965DBC5}"/>
              </a:ext>
            </a:extLst>
          </p:cNvPr>
          <p:cNvSpPr txBox="1"/>
          <p:nvPr/>
        </p:nvSpPr>
        <p:spPr>
          <a:xfrm>
            <a:off x="4691534" y="513617"/>
            <a:ext cx="6837411" cy="369332"/>
          </a:xfrm>
          <a:prstGeom prst="rect">
            <a:avLst/>
          </a:prstGeom>
          <a:noFill/>
        </p:spPr>
        <p:txBody>
          <a:bodyPr wrap="square" rtlCol="0">
            <a:spAutoFit/>
          </a:bodyPr>
          <a:lstStyle/>
          <a:p>
            <a:pPr algn="ctr"/>
            <a:r>
              <a:rPr lang="en-US" dirty="0"/>
              <a:t>Data Source Layer</a:t>
            </a:r>
          </a:p>
        </p:txBody>
      </p:sp>
    </p:spTree>
    <p:extLst>
      <p:ext uri="{BB962C8B-B14F-4D97-AF65-F5344CB8AC3E}">
        <p14:creationId xmlns:p14="http://schemas.microsoft.com/office/powerpoint/2010/main" val="930378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BFBF8-F77C-73FF-EAC6-32BB5222775B}"/>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Analyst Impacts of Existing Setup</a:t>
            </a:r>
          </a:p>
        </p:txBody>
      </p:sp>
      <p:sp>
        <p:nvSpPr>
          <p:cNvPr id="3" name="Content Placeholder 2">
            <a:extLst>
              <a:ext uri="{FF2B5EF4-FFF2-40B4-BE49-F238E27FC236}">
                <a16:creationId xmlns:a16="http://schemas.microsoft.com/office/drawing/2014/main" id="{68244458-A51B-83DA-3695-C14482AA3799}"/>
              </a:ext>
            </a:extLst>
          </p:cNvPr>
          <p:cNvSpPr>
            <a:spLocks noGrp="1"/>
          </p:cNvSpPr>
          <p:nvPr>
            <p:ph idx="1"/>
          </p:nvPr>
        </p:nvSpPr>
        <p:spPr>
          <a:xfrm>
            <a:off x="4810259" y="649480"/>
            <a:ext cx="6555347" cy="5546047"/>
          </a:xfrm>
        </p:spPr>
        <p:txBody>
          <a:bodyPr anchor="ctr">
            <a:normAutofit/>
          </a:bodyPr>
          <a:lstStyle/>
          <a:p>
            <a:pPr marL="0" indent="0">
              <a:buNone/>
            </a:pPr>
            <a:r>
              <a:rPr lang="en-US" sz="2000" dirty="0"/>
              <a:t>Pros</a:t>
            </a:r>
          </a:p>
          <a:p>
            <a:r>
              <a:rPr lang="en-US" sz="2000" dirty="0"/>
              <a:t>Allows for more flexibility based on reporting needs</a:t>
            </a:r>
          </a:p>
          <a:p>
            <a:pPr marL="0" indent="0">
              <a:buNone/>
            </a:pPr>
            <a:r>
              <a:rPr lang="en-US" sz="2000" dirty="0"/>
              <a:t>Cons</a:t>
            </a:r>
          </a:p>
          <a:p>
            <a:r>
              <a:rPr lang="en-US" sz="2000" dirty="0"/>
              <a:t>No centralized area for users/the firm to share processed datasets</a:t>
            </a:r>
          </a:p>
          <a:p>
            <a:r>
              <a:rPr lang="en-US" sz="2000" dirty="0"/>
              <a:t>Collaboration among data teams can be challenging</a:t>
            </a:r>
          </a:p>
          <a:p>
            <a:r>
              <a:rPr lang="en-US" sz="2000" dirty="0"/>
              <a:t>Teams using both BI tools duplicate efforts</a:t>
            </a:r>
          </a:p>
          <a:p>
            <a:r>
              <a:rPr lang="en-US" sz="2000" dirty="0"/>
              <a:t>Data governance becomes more complex to implement</a:t>
            </a:r>
          </a:p>
          <a:p>
            <a:endParaRPr lang="en-US" sz="2000" dirty="0"/>
          </a:p>
        </p:txBody>
      </p:sp>
    </p:spTree>
    <p:extLst>
      <p:ext uri="{BB962C8B-B14F-4D97-AF65-F5344CB8AC3E}">
        <p14:creationId xmlns:p14="http://schemas.microsoft.com/office/powerpoint/2010/main" val="1696317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9410A9-8927-DBA0-7818-45B52EF757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336B53-D2ED-DD97-8875-BF084F028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3FDADAD-A510-8370-8DC5-53D1D67E51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354C57-7736-3350-BCFE-D07535237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18642E2-FA3A-8D0D-2FC4-81AD342BD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8CE27F-0A89-1549-141C-4B5349A42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87A784-1F6D-7778-CB3C-8545C00A2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B1179DD-C07E-0C6F-AEA2-B3EBE4234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0F3FFA-0EFB-5B83-4339-CED738064AC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Current Analyst Solutions</a:t>
            </a:r>
          </a:p>
        </p:txBody>
      </p:sp>
      <p:sp>
        <p:nvSpPr>
          <p:cNvPr id="3" name="Content Placeholder 2">
            <a:extLst>
              <a:ext uri="{FF2B5EF4-FFF2-40B4-BE49-F238E27FC236}">
                <a16:creationId xmlns:a16="http://schemas.microsoft.com/office/drawing/2014/main" id="{461ADDCF-8CA1-6F12-0B6B-FACC4E8CFAB9}"/>
              </a:ext>
            </a:extLst>
          </p:cNvPr>
          <p:cNvSpPr>
            <a:spLocks noGrp="1"/>
          </p:cNvSpPr>
          <p:nvPr>
            <p:ph idx="1"/>
          </p:nvPr>
        </p:nvSpPr>
        <p:spPr>
          <a:xfrm>
            <a:off x="4538729" y="799706"/>
            <a:ext cx="3416509" cy="2726629"/>
          </a:xfrm>
          <a:prstGeom prst="roundRect">
            <a:avLst/>
          </a:prstGeom>
          <a:ln w="3175">
            <a:solidFill>
              <a:schemeClr val="tx1"/>
            </a:solidFill>
          </a:ln>
        </p:spPr>
        <p:txBody>
          <a:bodyPr anchor="ctr">
            <a:normAutofit/>
          </a:bodyPr>
          <a:lstStyle/>
          <a:p>
            <a:r>
              <a:rPr lang="en-US" sz="2000" dirty="0"/>
              <a:t>Duplicate ETL processes</a:t>
            </a:r>
          </a:p>
          <a:p>
            <a:r>
              <a:rPr lang="en-US" sz="2000" dirty="0"/>
              <a:t>Export data to Excel</a:t>
            </a:r>
          </a:p>
          <a:p>
            <a:r>
              <a:rPr lang="en-US" sz="2000" dirty="0"/>
              <a:t>Tableau URL</a:t>
            </a:r>
            <a:endParaRPr lang="en-US" sz="2400" dirty="0"/>
          </a:p>
          <a:p>
            <a:endParaRPr lang="en-US" sz="2000" dirty="0"/>
          </a:p>
        </p:txBody>
      </p:sp>
      <p:pic>
        <p:nvPicPr>
          <p:cNvPr id="3074" name="Picture 2">
            <a:extLst>
              <a:ext uri="{FF2B5EF4-FFF2-40B4-BE49-F238E27FC236}">
                <a16:creationId xmlns:a16="http://schemas.microsoft.com/office/drawing/2014/main" id="{79495E95-30D3-FE4D-63EB-E4C5E75964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121" y="799706"/>
            <a:ext cx="3427048" cy="2726629"/>
          </a:xfrm>
          <a:prstGeom prst="round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D45CBC2D-CAE6-687C-BBBE-AD82F2BFA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8729" y="3978805"/>
            <a:ext cx="3416510" cy="2733384"/>
          </a:xfrm>
          <a:prstGeom prst="round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A9B71A8-2048-C843-82BA-B183755AF9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1121" y="3995635"/>
            <a:ext cx="3416510" cy="2730535"/>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90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fade">
                                      <p:cBhvr>
                                        <p:cTn id="17"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4D9C2-DD90-BE01-7E65-2EEFE2D601C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F7B932-5205-1145-02B8-EA349E4F40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B1A190BC-53A7-427D-7514-4CF990928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2F828-3F2A-54F4-6213-8439CC3AA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AAF43DD-F4BA-C6AF-F9A0-10CD8EC4B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E02A148-998E-1930-DD2A-B57A88B5C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023B8CFA-4C82-D935-A396-3B3A29F8E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F5BA7CAE-F2D4-22F5-C043-8340BC0EA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83A35-DBE3-9726-4944-3751A95EF09F}"/>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Proposed Solutions Landscape</a:t>
            </a:r>
          </a:p>
        </p:txBody>
      </p:sp>
      <p:sp>
        <p:nvSpPr>
          <p:cNvPr id="4" name="Rectangle: Rounded Corners 3">
            <a:extLst>
              <a:ext uri="{FF2B5EF4-FFF2-40B4-BE49-F238E27FC236}">
                <a16:creationId xmlns:a16="http://schemas.microsoft.com/office/drawing/2014/main" id="{B8878C95-C1AA-1E2F-CBEB-F0D3641E109E}"/>
              </a:ext>
            </a:extLst>
          </p:cNvPr>
          <p:cNvSpPr/>
          <p:nvPr/>
        </p:nvSpPr>
        <p:spPr>
          <a:xfrm>
            <a:off x="4555940" y="5191739"/>
            <a:ext cx="6836879" cy="14551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Visualization Tools</a:t>
            </a:r>
          </a:p>
          <a:p>
            <a:pPr algn="ctr"/>
            <a:endParaRPr lang="en-US" dirty="0"/>
          </a:p>
          <a:p>
            <a:pPr algn="ctr"/>
            <a:endParaRPr lang="en-US" dirty="0"/>
          </a:p>
          <a:p>
            <a:pPr algn="ctr"/>
            <a:endParaRPr lang="en-US" dirty="0"/>
          </a:p>
          <a:p>
            <a:pPr algn="ctr"/>
            <a:endParaRPr lang="en-US" dirty="0"/>
          </a:p>
        </p:txBody>
      </p:sp>
      <p:sp>
        <p:nvSpPr>
          <p:cNvPr id="5" name="Rectangle: Rounded Corners 4">
            <a:extLst>
              <a:ext uri="{FF2B5EF4-FFF2-40B4-BE49-F238E27FC236}">
                <a16:creationId xmlns:a16="http://schemas.microsoft.com/office/drawing/2014/main" id="{72DE7FBC-8A0F-58DC-D98B-0ABBA61DEFC4}"/>
              </a:ext>
            </a:extLst>
          </p:cNvPr>
          <p:cNvSpPr/>
          <p:nvPr/>
        </p:nvSpPr>
        <p:spPr>
          <a:xfrm>
            <a:off x="5940767" y="5665984"/>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Power BI</a:t>
            </a:r>
          </a:p>
        </p:txBody>
      </p:sp>
      <p:pic>
        <p:nvPicPr>
          <p:cNvPr id="6" name="Picture 6">
            <a:extLst>
              <a:ext uri="{FF2B5EF4-FFF2-40B4-BE49-F238E27FC236}">
                <a16:creationId xmlns:a16="http://schemas.microsoft.com/office/drawing/2014/main" id="{6E993DBB-1A29-349A-3361-2D2308F035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083"/>
          <a:stretch>
            <a:fillRect/>
          </a:stretch>
        </p:blipFill>
        <p:spPr bwMode="auto">
          <a:xfrm>
            <a:off x="4555940" y="503827"/>
            <a:ext cx="6841185" cy="20896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1B670898-4D5D-E1FD-C73D-2DBFE2157042}"/>
              </a:ext>
            </a:extLst>
          </p:cNvPr>
          <p:cNvSpPr/>
          <p:nvPr/>
        </p:nvSpPr>
        <p:spPr>
          <a:xfrm>
            <a:off x="7932605" y="5665984"/>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Tableau</a:t>
            </a:r>
          </a:p>
        </p:txBody>
      </p:sp>
      <p:cxnSp>
        <p:nvCxnSpPr>
          <p:cNvPr id="9" name="Straight Arrow Connector 8">
            <a:extLst>
              <a:ext uri="{FF2B5EF4-FFF2-40B4-BE49-F238E27FC236}">
                <a16:creationId xmlns:a16="http://schemas.microsoft.com/office/drawing/2014/main" id="{A9BDB7F1-7A23-AC41-5065-294CB2E2BA17}"/>
              </a:ext>
            </a:extLst>
          </p:cNvPr>
          <p:cNvCxnSpPr>
            <a:cxnSpLocks/>
            <a:stCxn id="6" idx="2"/>
            <a:endCxn id="26" idx="0"/>
          </p:cNvCxnSpPr>
          <p:nvPr/>
        </p:nvCxnSpPr>
        <p:spPr>
          <a:xfrm flipH="1">
            <a:off x="7974380" y="2593493"/>
            <a:ext cx="2153" cy="517584"/>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6A72880-78B9-243C-5634-FBFE0FA1463B}"/>
              </a:ext>
            </a:extLst>
          </p:cNvPr>
          <p:cNvSpPr txBox="1"/>
          <p:nvPr/>
        </p:nvSpPr>
        <p:spPr>
          <a:xfrm>
            <a:off x="4746686" y="1177687"/>
            <a:ext cx="1318861" cy="369332"/>
          </a:xfrm>
          <a:prstGeom prst="rect">
            <a:avLst/>
          </a:prstGeom>
          <a:noFill/>
        </p:spPr>
        <p:txBody>
          <a:bodyPr wrap="square" rtlCol="0">
            <a:spAutoFit/>
          </a:bodyPr>
          <a:lstStyle/>
          <a:p>
            <a:r>
              <a:rPr lang="en-US" dirty="0"/>
              <a:t>Databases</a:t>
            </a:r>
          </a:p>
        </p:txBody>
      </p:sp>
      <p:pic>
        <p:nvPicPr>
          <p:cNvPr id="13" name="Graphic 12" descr="Rubber duck with solid fill">
            <a:extLst>
              <a:ext uri="{FF2B5EF4-FFF2-40B4-BE49-F238E27FC236}">
                <a16:creationId xmlns:a16="http://schemas.microsoft.com/office/drawing/2014/main" id="{C5CA2953-521F-A075-AF69-DF3ADF21A2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03424" y="539591"/>
            <a:ext cx="1897626" cy="1897626"/>
          </a:xfrm>
          <a:prstGeom prst="rect">
            <a:avLst/>
          </a:prstGeom>
        </p:spPr>
      </p:pic>
      <p:pic>
        <p:nvPicPr>
          <p:cNvPr id="15" name="Graphic 14" descr="Rubber duck with solid fill">
            <a:extLst>
              <a:ext uri="{FF2B5EF4-FFF2-40B4-BE49-F238E27FC236}">
                <a16:creationId xmlns:a16="http://schemas.microsoft.com/office/drawing/2014/main" id="{C76F2DC6-F170-EE88-BDA0-7DEEACA982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95193" y="983395"/>
            <a:ext cx="1897626" cy="1897626"/>
          </a:xfrm>
          <a:prstGeom prst="rect">
            <a:avLst/>
          </a:prstGeom>
        </p:spPr>
      </p:pic>
      <p:sp>
        <p:nvSpPr>
          <p:cNvPr id="17" name="TextBox 16">
            <a:extLst>
              <a:ext uri="{FF2B5EF4-FFF2-40B4-BE49-F238E27FC236}">
                <a16:creationId xmlns:a16="http://schemas.microsoft.com/office/drawing/2014/main" id="{0A463A04-A513-D6C9-1D8B-89D360C58E1A}"/>
              </a:ext>
            </a:extLst>
          </p:cNvPr>
          <p:cNvSpPr txBox="1"/>
          <p:nvPr/>
        </p:nvSpPr>
        <p:spPr>
          <a:xfrm>
            <a:off x="7216720" y="1526954"/>
            <a:ext cx="1318861" cy="369332"/>
          </a:xfrm>
          <a:prstGeom prst="rect">
            <a:avLst/>
          </a:prstGeom>
          <a:noFill/>
        </p:spPr>
        <p:txBody>
          <a:bodyPr wrap="square" rtlCol="0">
            <a:spAutoFit/>
          </a:bodyPr>
          <a:lstStyle/>
          <a:p>
            <a:r>
              <a:rPr lang="en-US" dirty="0"/>
              <a:t>SharePoint</a:t>
            </a:r>
          </a:p>
        </p:txBody>
      </p:sp>
      <p:sp>
        <p:nvSpPr>
          <p:cNvPr id="19" name="TextBox 18">
            <a:extLst>
              <a:ext uri="{FF2B5EF4-FFF2-40B4-BE49-F238E27FC236}">
                <a16:creationId xmlns:a16="http://schemas.microsoft.com/office/drawing/2014/main" id="{27550E4C-281D-3181-DD0C-7000582708FC}"/>
              </a:ext>
            </a:extLst>
          </p:cNvPr>
          <p:cNvSpPr txBox="1"/>
          <p:nvPr/>
        </p:nvSpPr>
        <p:spPr>
          <a:xfrm>
            <a:off x="10101315" y="1947876"/>
            <a:ext cx="797188" cy="369332"/>
          </a:xfrm>
          <a:prstGeom prst="rect">
            <a:avLst/>
          </a:prstGeom>
          <a:noFill/>
        </p:spPr>
        <p:txBody>
          <a:bodyPr wrap="square" rtlCol="0">
            <a:spAutoFit/>
          </a:bodyPr>
          <a:lstStyle/>
          <a:p>
            <a:r>
              <a:rPr lang="en-US" dirty="0">
                <a:solidFill>
                  <a:schemeClr val="bg1"/>
                </a:solidFill>
              </a:rPr>
              <a:t>Excel</a:t>
            </a:r>
          </a:p>
        </p:txBody>
      </p:sp>
      <p:pic>
        <p:nvPicPr>
          <p:cNvPr id="21" name="Graphic 20" descr="Rubber duck with solid fill">
            <a:extLst>
              <a:ext uri="{FF2B5EF4-FFF2-40B4-BE49-F238E27FC236}">
                <a16:creationId xmlns:a16="http://schemas.microsoft.com/office/drawing/2014/main" id="{C5DD6EAC-AD62-24CE-B50D-4F75595525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03151" y="847266"/>
            <a:ext cx="423656" cy="423656"/>
          </a:xfrm>
          <a:prstGeom prst="rect">
            <a:avLst/>
          </a:prstGeom>
        </p:spPr>
      </p:pic>
      <p:pic>
        <p:nvPicPr>
          <p:cNvPr id="22" name="Graphic 21" descr="Rubber duck with solid fill">
            <a:extLst>
              <a:ext uri="{FF2B5EF4-FFF2-40B4-BE49-F238E27FC236}">
                <a16:creationId xmlns:a16="http://schemas.microsoft.com/office/drawing/2014/main" id="{D2708998-A66D-DB58-4138-C8E88B55C5F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83241" y="1910232"/>
            <a:ext cx="423656" cy="423656"/>
          </a:xfrm>
          <a:prstGeom prst="rect">
            <a:avLst/>
          </a:prstGeom>
        </p:spPr>
      </p:pic>
      <p:pic>
        <p:nvPicPr>
          <p:cNvPr id="23" name="Graphic 22" descr="Rubber duck with solid fill">
            <a:extLst>
              <a:ext uri="{FF2B5EF4-FFF2-40B4-BE49-F238E27FC236}">
                <a16:creationId xmlns:a16="http://schemas.microsoft.com/office/drawing/2014/main" id="{4B0F6C2F-B229-897A-E2F5-D037D30F2B3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9638" y="1558640"/>
            <a:ext cx="423656" cy="423656"/>
          </a:xfrm>
          <a:prstGeom prst="rect">
            <a:avLst/>
          </a:prstGeom>
        </p:spPr>
      </p:pic>
      <p:sp>
        <p:nvSpPr>
          <p:cNvPr id="26" name="Rectangle: Rounded Corners 25">
            <a:extLst>
              <a:ext uri="{FF2B5EF4-FFF2-40B4-BE49-F238E27FC236}">
                <a16:creationId xmlns:a16="http://schemas.microsoft.com/office/drawing/2014/main" id="{301C13A3-1457-7CF0-66F1-19F66CAD5F96}"/>
              </a:ext>
            </a:extLst>
          </p:cNvPr>
          <p:cNvSpPr/>
          <p:nvPr/>
        </p:nvSpPr>
        <p:spPr>
          <a:xfrm>
            <a:off x="4555940" y="3111077"/>
            <a:ext cx="6836879" cy="14551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Transformation Layer</a:t>
            </a:r>
          </a:p>
          <a:p>
            <a:pPr algn="ctr"/>
            <a:endParaRPr lang="en-US" dirty="0"/>
          </a:p>
          <a:p>
            <a:pPr algn="ctr"/>
            <a:endParaRPr lang="en-US" dirty="0"/>
          </a:p>
          <a:p>
            <a:pPr algn="ctr"/>
            <a:endParaRPr lang="en-US" dirty="0"/>
          </a:p>
          <a:p>
            <a:pPr algn="ctr"/>
            <a:endParaRPr lang="en-US" dirty="0"/>
          </a:p>
        </p:txBody>
      </p:sp>
      <p:cxnSp>
        <p:nvCxnSpPr>
          <p:cNvPr id="30" name="Straight Arrow Connector 29">
            <a:extLst>
              <a:ext uri="{FF2B5EF4-FFF2-40B4-BE49-F238E27FC236}">
                <a16:creationId xmlns:a16="http://schemas.microsoft.com/office/drawing/2014/main" id="{1C4268CE-C149-75BC-455C-2BAF82572213}"/>
              </a:ext>
            </a:extLst>
          </p:cNvPr>
          <p:cNvCxnSpPr>
            <a:cxnSpLocks/>
            <a:stCxn id="26" idx="2"/>
            <a:endCxn id="4" idx="0"/>
          </p:cNvCxnSpPr>
          <p:nvPr/>
        </p:nvCxnSpPr>
        <p:spPr>
          <a:xfrm>
            <a:off x="7974380" y="4566251"/>
            <a:ext cx="0" cy="625488"/>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1CFD5FE3-9CA7-92A8-6E3D-1CACBB38360F}"/>
              </a:ext>
            </a:extLst>
          </p:cNvPr>
          <p:cNvSpPr txBox="1"/>
          <p:nvPr/>
        </p:nvSpPr>
        <p:spPr>
          <a:xfrm>
            <a:off x="4533531" y="136397"/>
            <a:ext cx="6837411" cy="369332"/>
          </a:xfrm>
          <a:prstGeom prst="rect">
            <a:avLst/>
          </a:prstGeom>
          <a:noFill/>
        </p:spPr>
        <p:txBody>
          <a:bodyPr wrap="square" rtlCol="0">
            <a:spAutoFit/>
          </a:bodyPr>
          <a:lstStyle/>
          <a:p>
            <a:pPr algn="ctr"/>
            <a:r>
              <a:rPr lang="en-US" dirty="0"/>
              <a:t>Data Source Layer</a:t>
            </a:r>
          </a:p>
        </p:txBody>
      </p:sp>
      <p:sp>
        <p:nvSpPr>
          <p:cNvPr id="36" name="Rectangle: Rounded Corners 35">
            <a:extLst>
              <a:ext uri="{FF2B5EF4-FFF2-40B4-BE49-F238E27FC236}">
                <a16:creationId xmlns:a16="http://schemas.microsoft.com/office/drawing/2014/main" id="{965AC814-4771-2B13-77AF-C521764AAABC}"/>
              </a:ext>
            </a:extLst>
          </p:cNvPr>
          <p:cNvSpPr/>
          <p:nvPr/>
        </p:nvSpPr>
        <p:spPr>
          <a:xfrm>
            <a:off x="5940767" y="3522571"/>
            <a:ext cx="3886040"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Databricks/BI Connector/</a:t>
            </a:r>
            <a:r>
              <a:rPr lang="en-US" dirty="0" err="1">
                <a:solidFill>
                  <a:sysClr val="windowText" lastClr="000000"/>
                </a:solidFill>
              </a:rPr>
              <a:t>etc</a:t>
            </a:r>
            <a:endParaRPr lang="en-US" dirty="0">
              <a:solidFill>
                <a:sysClr val="windowText" lastClr="000000"/>
              </a:solidFill>
            </a:endParaRPr>
          </a:p>
        </p:txBody>
      </p:sp>
    </p:spTree>
    <p:extLst>
      <p:ext uri="{BB962C8B-B14F-4D97-AF65-F5344CB8AC3E}">
        <p14:creationId xmlns:p14="http://schemas.microsoft.com/office/powerpoint/2010/main" val="1474825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0F95D7-2390-7DCF-0A78-F4E0B797BA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395353-2318-B9BE-AA47-CD18AE5E6A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BD17E14B-4B33-1C28-FBCD-45ADDF5AA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BF17E1-BC37-69F9-E1F8-4C81AB26E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5B5CE0-9C8D-85DD-76A2-CEB088B7C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D0E874-18B2-D09E-7BFD-89773A62F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6447F05-D861-8109-5794-DC4EF5363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E499DAE-FD17-2222-421E-2B135686B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BE059E-52E6-DAB4-8928-FAE016B881F6}"/>
              </a:ext>
            </a:extLst>
          </p:cNvPr>
          <p:cNvSpPr>
            <a:spLocks noGrp="1"/>
          </p:cNvSpPr>
          <p:nvPr>
            <p:ph type="title"/>
          </p:nvPr>
        </p:nvSpPr>
        <p:spPr>
          <a:xfrm>
            <a:off x="466722" y="586855"/>
            <a:ext cx="3201366" cy="3387497"/>
          </a:xfrm>
        </p:spPr>
        <p:txBody>
          <a:bodyPr anchor="b">
            <a:normAutofit/>
          </a:bodyPr>
          <a:lstStyle/>
          <a:p>
            <a:pPr algn="r"/>
            <a:br>
              <a:rPr lang="en-US" sz="4000" dirty="0">
                <a:solidFill>
                  <a:srgbClr val="FFFFFF"/>
                </a:solidFill>
              </a:rPr>
            </a:br>
            <a:r>
              <a:rPr lang="en-US" sz="4000" dirty="0">
                <a:solidFill>
                  <a:srgbClr val="FFFFFF"/>
                </a:solidFill>
              </a:rPr>
              <a:t>Firm Impact of Existing Setup</a:t>
            </a:r>
          </a:p>
        </p:txBody>
      </p:sp>
      <p:sp>
        <p:nvSpPr>
          <p:cNvPr id="3" name="Content Placeholder 2">
            <a:extLst>
              <a:ext uri="{FF2B5EF4-FFF2-40B4-BE49-F238E27FC236}">
                <a16:creationId xmlns:a16="http://schemas.microsoft.com/office/drawing/2014/main" id="{7EC5BDE6-0838-B9AF-8D1C-8B8D9E0D4BF7}"/>
              </a:ext>
            </a:extLst>
          </p:cNvPr>
          <p:cNvSpPr>
            <a:spLocks noGrp="1"/>
          </p:cNvSpPr>
          <p:nvPr>
            <p:ph idx="1"/>
          </p:nvPr>
        </p:nvSpPr>
        <p:spPr>
          <a:xfrm>
            <a:off x="4810259" y="649480"/>
            <a:ext cx="6555347" cy="5546047"/>
          </a:xfrm>
        </p:spPr>
        <p:txBody>
          <a:bodyPr anchor="ctr">
            <a:normAutofit/>
          </a:bodyPr>
          <a:lstStyle/>
          <a:p>
            <a:pPr marL="0" indent="0">
              <a:buNone/>
            </a:pPr>
            <a:r>
              <a:rPr lang="en-US" sz="2000" dirty="0"/>
              <a:t>Pros</a:t>
            </a:r>
          </a:p>
          <a:p>
            <a:r>
              <a:rPr lang="en-US" sz="2000" dirty="0"/>
              <a:t>Utilize best of both tools as needed</a:t>
            </a:r>
          </a:p>
          <a:p>
            <a:pPr marL="0" indent="0">
              <a:buNone/>
            </a:pPr>
            <a:r>
              <a:rPr lang="en-US" sz="2000" dirty="0"/>
              <a:t>Cons</a:t>
            </a:r>
          </a:p>
          <a:p>
            <a:r>
              <a:rPr lang="en-US" sz="2000" dirty="0"/>
              <a:t>Less analyst skill transferability</a:t>
            </a:r>
          </a:p>
          <a:p>
            <a:r>
              <a:rPr lang="en-US" sz="2000" dirty="0"/>
              <a:t>More support staff/logistics/licensing required</a:t>
            </a:r>
          </a:p>
          <a:p>
            <a:r>
              <a:rPr lang="en-US" sz="2000" dirty="0"/>
              <a:t>More server compute time used</a:t>
            </a:r>
          </a:p>
          <a:p>
            <a:r>
              <a:rPr lang="en-US" sz="2000" dirty="0"/>
              <a:t>More time spent maintaining queries</a:t>
            </a:r>
          </a:p>
          <a:p>
            <a:r>
              <a:rPr lang="en-US" sz="2000" dirty="0"/>
              <a:t>Data governance becomes more challenging</a:t>
            </a:r>
          </a:p>
        </p:txBody>
      </p:sp>
    </p:spTree>
    <p:extLst>
      <p:ext uri="{BB962C8B-B14F-4D97-AF65-F5344CB8AC3E}">
        <p14:creationId xmlns:p14="http://schemas.microsoft.com/office/powerpoint/2010/main" val="3858022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32022B-ACCC-13CA-19FE-0BA02C594DE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Questions</a:t>
            </a:r>
          </a:p>
        </p:txBody>
      </p:sp>
    </p:spTree>
    <p:extLst>
      <p:ext uri="{BB962C8B-B14F-4D97-AF65-F5344CB8AC3E}">
        <p14:creationId xmlns:p14="http://schemas.microsoft.com/office/powerpoint/2010/main" val="414377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4BB33-3521-EA6A-0026-7B662BC8698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User Workarounds + Proposed Solutions</a:t>
            </a:r>
          </a:p>
        </p:txBody>
      </p:sp>
      <p:sp>
        <p:nvSpPr>
          <p:cNvPr id="3" name="Content Placeholder 2">
            <a:extLst>
              <a:ext uri="{FF2B5EF4-FFF2-40B4-BE49-F238E27FC236}">
                <a16:creationId xmlns:a16="http://schemas.microsoft.com/office/drawing/2014/main" id="{638DCFA8-B4BC-5E13-F462-49EE1B854B7D}"/>
              </a:ext>
            </a:extLst>
          </p:cNvPr>
          <p:cNvSpPr>
            <a:spLocks noGrp="1"/>
          </p:cNvSpPr>
          <p:nvPr>
            <p:ph idx="1"/>
          </p:nvPr>
        </p:nvSpPr>
        <p:spPr>
          <a:xfrm>
            <a:off x="4810259" y="649480"/>
            <a:ext cx="6555347" cy="5546047"/>
          </a:xfrm>
        </p:spPr>
        <p:txBody>
          <a:bodyPr anchor="ctr">
            <a:normAutofit/>
          </a:bodyPr>
          <a:lstStyle/>
          <a:p>
            <a:r>
              <a:rPr lang="en-US" sz="2000" dirty="0"/>
              <a:t>Current Workarounds</a:t>
            </a:r>
          </a:p>
          <a:p>
            <a:pPr lvl="1"/>
            <a:r>
              <a:rPr lang="en-US" sz="1600" dirty="0"/>
              <a:t>Duplicating ETL processes in both tools</a:t>
            </a:r>
          </a:p>
          <a:p>
            <a:pPr lvl="1"/>
            <a:r>
              <a:rPr lang="en-US" sz="1600" dirty="0"/>
              <a:t>Exporting data to Excel</a:t>
            </a:r>
          </a:p>
          <a:p>
            <a:pPr lvl="1"/>
            <a:r>
              <a:rPr lang="en-US" sz="1600" dirty="0"/>
              <a:t>If using Tableau – using the URL visual to view a Power BI report</a:t>
            </a:r>
          </a:p>
          <a:p>
            <a:r>
              <a:rPr lang="en-US" sz="2000" dirty="0"/>
              <a:t>Potential Long-Term Solutions</a:t>
            </a:r>
          </a:p>
          <a:p>
            <a:pPr lvl="1"/>
            <a:r>
              <a:rPr lang="en-US" sz="1600" dirty="0"/>
              <a:t>ETL tool access – Databricks, etc.</a:t>
            </a:r>
          </a:p>
          <a:p>
            <a:pPr lvl="1"/>
            <a:r>
              <a:rPr lang="en-US" sz="1600" dirty="0"/>
              <a:t>Power BI to Tableau connector</a:t>
            </a:r>
          </a:p>
          <a:p>
            <a:endParaRPr lang="en-US" sz="2000" dirty="0"/>
          </a:p>
          <a:p>
            <a:endParaRPr lang="en-US" sz="2000" dirty="0"/>
          </a:p>
          <a:p>
            <a:endParaRPr lang="en-US" sz="2000" dirty="0"/>
          </a:p>
        </p:txBody>
      </p:sp>
    </p:spTree>
    <p:extLst>
      <p:ext uri="{BB962C8B-B14F-4D97-AF65-F5344CB8AC3E}">
        <p14:creationId xmlns:p14="http://schemas.microsoft.com/office/powerpoint/2010/main" val="3358528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E74C12-FF52-96D4-EBAC-EA4E43F50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51DB9-AE2B-EFF9-1DAA-6B6AB549469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Current Business Intelligence Landscape</a:t>
            </a:r>
          </a:p>
        </p:txBody>
      </p:sp>
      <p:sp>
        <p:nvSpPr>
          <p:cNvPr id="4" name="Rectangle: Rounded Corners 3">
            <a:extLst>
              <a:ext uri="{FF2B5EF4-FFF2-40B4-BE49-F238E27FC236}">
                <a16:creationId xmlns:a16="http://schemas.microsoft.com/office/drawing/2014/main" id="{9722884C-7E99-FE21-110E-DEFE4BAA81CD}"/>
              </a:ext>
            </a:extLst>
          </p:cNvPr>
          <p:cNvSpPr/>
          <p:nvPr/>
        </p:nvSpPr>
        <p:spPr>
          <a:xfrm>
            <a:off x="5011307" y="1349313"/>
            <a:ext cx="6204155" cy="14551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Source Layer</a:t>
            </a:r>
          </a:p>
          <a:p>
            <a:pPr algn="ctr"/>
            <a:endParaRPr lang="en-US" dirty="0"/>
          </a:p>
          <a:p>
            <a:pPr algn="ctr"/>
            <a:endParaRPr lang="en-US" dirty="0"/>
          </a:p>
          <a:p>
            <a:pPr algn="ctr"/>
            <a:endParaRPr lang="en-US" dirty="0"/>
          </a:p>
          <a:p>
            <a:pPr algn="ctr"/>
            <a:endParaRPr lang="en-US" dirty="0"/>
          </a:p>
        </p:txBody>
      </p:sp>
      <p:sp>
        <p:nvSpPr>
          <p:cNvPr id="5" name="Rectangle: Rounded Corners 4">
            <a:extLst>
              <a:ext uri="{FF2B5EF4-FFF2-40B4-BE49-F238E27FC236}">
                <a16:creationId xmlns:a16="http://schemas.microsoft.com/office/drawing/2014/main" id="{B015A312-5FDA-3BCF-0F36-045AD902AB7A}"/>
              </a:ext>
            </a:extLst>
          </p:cNvPr>
          <p:cNvSpPr/>
          <p:nvPr/>
        </p:nvSpPr>
        <p:spPr>
          <a:xfrm>
            <a:off x="5169589" y="177439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Databases</a:t>
            </a:r>
          </a:p>
        </p:txBody>
      </p:sp>
      <p:sp>
        <p:nvSpPr>
          <p:cNvPr id="6" name="Rectangle: Rounded Corners 5">
            <a:extLst>
              <a:ext uri="{FF2B5EF4-FFF2-40B4-BE49-F238E27FC236}">
                <a16:creationId xmlns:a16="http://schemas.microsoft.com/office/drawing/2014/main" id="{A5484207-98FB-D6FF-4120-F92D834E5930}"/>
              </a:ext>
            </a:extLst>
          </p:cNvPr>
          <p:cNvSpPr/>
          <p:nvPr/>
        </p:nvSpPr>
        <p:spPr>
          <a:xfrm>
            <a:off x="7161427" y="177439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Excel</a:t>
            </a:r>
          </a:p>
        </p:txBody>
      </p:sp>
      <p:sp>
        <p:nvSpPr>
          <p:cNvPr id="7" name="Rectangle: Rounded Corners 6">
            <a:extLst>
              <a:ext uri="{FF2B5EF4-FFF2-40B4-BE49-F238E27FC236}">
                <a16:creationId xmlns:a16="http://schemas.microsoft.com/office/drawing/2014/main" id="{1C978E7D-78F1-1717-0922-DB4D0663DFE7}"/>
              </a:ext>
            </a:extLst>
          </p:cNvPr>
          <p:cNvSpPr/>
          <p:nvPr/>
        </p:nvSpPr>
        <p:spPr>
          <a:xfrm>
            <a:off x="9153266" y="177439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SharePoint</a:t>
            </a:r>
          </a:p>
        </p:txBody>
      </p:sp>
      <p:sp>
        <p:nvSpPr>
          <p:cNvPr id="17" name="Rectangle: Rounded Corners 16">
            <a:extLst>
              <a:ext uri="{FF2B5EF4-FFF2-40B4-BE49-F238E27FC236}">
                <a16:creationId xmlns:a16="http://schemas.microsoft.com/office/drawing/2014/main" id="{D87C71EE-84BF-3892-98E4-49B6758A49F4}"/>
              </a:ext>
            </a:extLst>
          </p:cNvPr>
          <p:cNvSpPr/>
          <p:nvPr/>
        </p:nvSpPr>
        <p:spPr>
          <a:xfrm>
            <a:off x="5011307" y="4151832"/>
            <a:ext cx="6204155" cy="14551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Visualization Tools</a:t>
            </a:r>
          </a:p>
          <a:p>
            <a:pPr algn="ctr"/>
            <a:endParaRPr lang="en-US" dirty="0"/>
          </a:p>
          <a:p>
            <a:pPr algn="ctr"/>
            <a:endParaRPr lang="en-US" dirty="0"/>
          </a:p>
          <a:p>
            <a:pPr algn="ctr"/>
            <a:endParaRPr lang="en-US" dirty="0"/>
          </a:p>
          <a:p>
            <a:pPr algn="ctr"/>
            <a:endParaRPr lang="en-US" dirty="0"/>
          </a:p>
        </p:txBody>
      </p:sp>
      <p:sp>
        <p:nvSpPr>
          <p:cNvPr id="19" name="Rectangle: Rounded Corners 18">
            <a:extLst>
              <a:ext uri="{FF2B5EF4-FFF2-40B4-BE49-F238E27FC236}">
                <a16:creationId xmlns:a16="http://schemas.microsoft.com/office/drawing/2014/main" id="{FD0FFB20-B4AB-85B4-415E-EC208CD501C5}"/>
              </a:ext>
            </a:extLst>
          </p:cNvPr>
          <p:cNvSpPr/>
          <p:nvPr/>
        </p:nvSpPr>
        <p:spPr>
          <a:xfrm>
            <a:off x="6118402" y="462607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Power BI</a:t>
            </a:r>
          </a:p>
        </p:txBody>
      </p:sp>
      <p:sp>
        <p:nvSpPr>
          <p:cNvPr id="21" name="Rectangle: Rounded Corners 20">
            <a:extLst>
              <a:ext uri="{FF2B5EF4-FFF2-40B4-BE49-F238E27FC236}">
                <a16:creationId xmlns:a16="http://schemas.microsoft.com/office/drawing/2014/main" id="{1E241C2F-E6C9-499B-6F9E-5DFA772BD178}"/>
              </a:ext>
            </a:extLst>
          </p:cNvPr>
          <p:cNvSpPr/>
          <p:nvPr/>
        </p:nvSpPr>
        <p:spPr>
          <a:xfrm>
            <a:off x="8110240" y="4626077"/>
            <a:ext cx="1897626" cy="83344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Tableau</a:t>
            </a:r>
          </a:p>
        </p:txBody>
      </p:sp>
      <p:cxnSp>
        <p:nvCxnSpPr>
          <p:cNvPr id="24" name="Straight Arrow Connector 23">
            <a:extLst>
              <a:ext uri="{FF2B5EF4-FFF2-40B4-BE49-F238E27FC236}">
                <a16:creationId xmlns:a16="http://schemas.microsoft.com/office/drawing/2014/main" id="{7D682B95-CBED-1B43-BCC5-C3AA7E9CCE76}"/>
              </a:ext>
            </a:extLst>
          </p:cNvPr>
          <p:cNvCxnSpPr>
            <a:stCxn id="4" idx="2"/>
            <a:endCxn id="17" idx="0"/>
          </p:cNvCxnSpPr>
          <p:nvPr/>
        </p:nvCxnSpPr>
        <p:spPr>
          <a:xfrm>
            <a:off x="8113385" y="2804487"/>
            <a:ext cx="0" cy="1347345"/>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0B566285-0C63-8792-3F1F-E3AD35C96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1171" y="695325"/>
            <a:ext cx="6838137" cy="1961678"/>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descr="Rubber duck with solid fill">
            <a:extLst>
              <a:ext uri="{FF2B5EF4-FFF2-40B4-BE49-F238E27FC236}">
                <a16:creationId xmlns:a16="http://schemas.microsoft.com/office/drawing/2014/main" id="{D5341BD7-C133-B996-35A4-0CF580D046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60753" y="639077"/>
            <a:ext cx="1897626" cy="1897626"/>
          </a:xfrm>
          <a:prstGeom prst="rect">
            <a:avLst/>
          </a:prstGeom>
        </p:spPr>
      </p:pic>
      <p:sp>
        <p:nvSpPr>
          <p:cNvPr id="15" name="TextBox 14">
            <a:extLst>
              <a:ext uri="{FF2B5EF4-FFF2-40B4-BE49-F238E27FC236}">
                <a16:creationId xmlns:a16="http://schemas.microsoft.com/office/drawing/2014/main" id="{CAEF37C6-E1D7-78DA-2386-2361B61F2139}"/>
              </a:ext>
            </a:extLst>
          </p:cNvPr>
          <p:cNvSpPr txBox="1"/>
          <p:nvPr/>
        </p:nvSpPr>
        <p:spPr>
          <a:xfrm>
            <a:off x="5462141" y="1626913"/>
            <a:ext cx="1318861" cy="369332"/>
          </a:xfrm>
          <a:prstGeom prst="rect">
            <a:avLst/>
          </a:prstGeom>
          <a:noFill/>
        </p:spPr>
        <p:txBody>
          <a:bodyPr wrap="square" rtlCol="0">
            <a:spAutoFit/>
          </a:bodyPr>
          <a:lstStyle/>
          <a:p>
            <a:r>
              <a:rPr lang="en-US" dirty="0"/>
              <a:t>Databases</a:t>
            </a:r>
          </a:p>
        </p:txBody>
      </p:sp>
      <p:pic>
        <p:nvPicPr>
          <p:cNvPr id="22" name="Graphic 21" descr="Rubber duck with solid fill">
            <a:extLst>
              <a:ext uri="{FF2B5EF4-FFF2-40B4-BE49-F238E27FC236}">
                <a16:creationId xmlns:a16="http://schemas.microsoft.com/office/drawing/2014/main" id="{64B32EA0-8D99-CD38-16E4-DCD4FCD8F5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96857" y="685187"/>
            <a:ext cx="1897626" cy="1897626"/>
          </a:xfrm>
          <a:prstGeom prst="rect">
            <a:avLst/>
          </a:prstGeom>
        </p:spPr>
      </p:pic>
      <p:pic>
        <p:nvPicPr>
          <p:cNvPr id="23" name="Graphic 22" descr="Rubber duck with solid fill">
            <a:extLst>
              <a:ext uri="{FF2B5EF4-FFF2-40B4-BE49-F238E27FC236}">
                <a16:creationId xmlns:a16="http://schemas.microsoft.com/office/drawing/2014/main" id="{D7721C7E-0B75-00FD-1D78-92649FE3CF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4483" y="723737"/>
            <a:ext cx="1897626" cy="1897626"/>
          </a:xfrm>
          <a:prstGeom prst="rect">
            <a:avLst/>
          </a:prstGeom>
        </p:spPr>
      </p:pic>
      <p:sp>
        <p:nvSpPr>
          <p:cNvPr id="25" name="TextBox 24">
            <a:extLst>
              <a:ext uri="{FF2B5EF4-FFF2-40B4-BE49-F238E27FC236}">
                <a16:creationId xmlns:a16="http://schemas.microsoft.com/office/drawing/2014/main" id="{1984398C-AC75-3BE3-0C0F-ED597FE14FA5}"/>
              </a:ext>
            </a:extLst>
          </p:cNvPr>
          <p:cNvSpPr txBox="1"/>
          <p:nvPr/>
        </p:nvSpPr>
        <p:spPr>
          <a:xfrm>
            <a:off x="7210153" y="1672550"/>
            <a:ext cx="1318861" cy="369332"/>
          </a:xfrm>
          <a:prstGeom prst="rect">
            <a:avLst/>
          </a:prstGeom>
          <a:noFill/>
        </p:spPr>
        <p:txBody>
          <a:bodyPr wrap="square" rtlCol="0">
            <a:spAutoFit/>
          </a:bodyPr>
          <a:lstStyle/>
          <a:p>
            <a:r>
              <a:rPr lang="en-US" dirty="0" err="1"/>
              <a:t>Sharepoint</a:t>
            </a:r>
            <a:endParaRPr lang="en-US" dirty="0"/>
          </a:p>
        </p:txBody>
      </p:sp>
      <p:sp>
        <p:nvSpPr>
          <p:cNvPr id="26" name="TextBox 25">
            <a:extLst>
              <a:ext uri="{FF2B5EF4-FFF2-40B4-BE49-F238E27FC236}">
                <a16:creationId xmlns:a16="http://schemas.microsoft.com/office/drawing/2014/main" id="{8B070BF4-C118-13A8-15C9-3AE587795F6F}"/>
              </a:ext>
            </a:extLst>
          </p:cNvPr>
          <p:cNvSpPr txBox="1"/>
          <p:nvPr/>
        </p:nvSpPr>
        <p:spPr>
          <a:xfrm>
            <a:off x="9201992" y="1684822"/>
            <a:ext cx="1318861" cy="369332"/>
          </a:xfrm>
          <a:prstGeom prst="rect">
            <a:avLst/>
          </a:prstGeom>
          <a:noFill/>
        </p:spPr>
        <p:txBody>
          <a:bodyPr wrap="square" rtlCol="0">
            <a:spAutoFit/>
          </a:bodyPr>
          <a:lstStyle/>
          <a:p>
            <a:r>
              <a:rPr lang="en-US" dirty="0"/>
              <a:t>Excel</a:t>
            </a:r>
          </a:p>
        </p:txBody>
      </p:sp>
      <p:pic>
        <p:nvPicPr>
          <p:cNvPr id="27" name="Graphic 26" descr="Rubber duck with solid fill">
            <a:extLst>
              <a:ext uri="{FF2B5EF4-FFF2-40B4-BE49-F238E27FC236}">
                <a16:creationId xmlns:a16="http://schemas.microsoft.com/office/drawing/2014/main" id="{057D26FF-A888-8A55-5593-CC0217A807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4770" y="1533009"/>
            <a:ext cx="423656" cy="423656"/>
          </a:xfrm>
          <a:prstGeom prst="rect">
            <a:avLst/>
          </a:prstGeom>
        </p:spPr>
      </p:pic>
      <p:pic>
        <p:nvPicPr>
          <p:cNvPr id="28" name="Graphic 27" descr="Rubber duck with solid fill">
            <a:extLst>
              <a:ext uri="{FF2B5EF4-FFF2-40B4-BE49-F238E27FC236}">
                <a16:creationId xmlns:a16="http://schemas.microsoft.com/office/drawing/2014/main" id="{9D22E2F3-8721-0023-F0E5-FA76D39572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42145" y="1869488"/>
            <a:ext cx="423656" cy="423656"/>
          </a:xfrm>
          <a:prstGeom prst="rect">
            <a:avLst/>
          </a:prstGeom>
        </p:spPr>
      </p:pic>
      <p:pic>
        <p:nvPicPr>
          <p:cNvPr id="29" name="Graphic 28" descr="Rubber duck with solid fill">
            <a:extLst>
              <a:ext uri="{FF2B5EF4-FFF2-40B4-BE49-F238E27FC236}">
                <a16:creationId xmlns:a16="http://schemas.microsoft.com/office/drawing/2014/main" id="{99321A46-9439-32A4-E4B7-1506543298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7601" y="1612741"/>
            <a:ext cx="423656" cy="423656"/>
          </a:xfrm>
          <a:prstGeom prst="rect">
            <a:avLst/>
          </a:prstGeom>
        </p:spPr>
      </p:pic>
      <p:sp>
        <p:nvSpPr>
          <p:cNvPr id="30" name="TextBox 29">
            <a:extLst>
              <a:ext uri="{FF2B5EF4-FFF2-40B4-BE49-F238E27FC236}">
                <a16:creationId xmlns:a16="http://schemas.microsoft.com/office/drawing/2014/main" id="{E3C810D8-7164-752E-29C5-67765BCEF87C}"/>
              </a:ext>
            </a:extLst>
          </p:cNvPr>
          <p:cNvSpPr txBox="1"/>
          <p:nvPr/>
        </p:nvSpPr>
        <p:spPr>
          <a:xfrm>
            <a:off x="4691897" y="338737"/>
            <a:ext cx="6837411" cy="369332"/>
          </a:xfrm>
          <a:prstGeom prst="rect">
            <a:avLst/>
          </a:prstGeom>
          <a:noFill/>
        </p:spPr>
        <p:txBody>
          <a:bodyPr wrap="square" rtlCol="0">
            <a:spAutoFit/>
          </a:bodyPr>
          <a:lstStyle/>
          <a:p>
            <a:pPr algn="ctr"/>
            <a:r>
              <a:rPr lang="en-US" dirty="0"/>
              <a:t>Data Source Layer</a:t>
            </a:r>
          </a:p>
        </p:txBody>
      </p:sp>
    </p:spTree>
    <p:extLst>
      <p:ext uri="{BB962C8B-B14F-4D97-AF65-F5344CB8AC3E}">
        <p14:creationId xmlns:p14="http://schemas.microsoft.com/office/powerpoint/2010/main" val="3241325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4627</TotalTime>
  <Words>1165</Words>
  <Application>Microsoft Office PowerPoint</Application>
  <PresentationFormat>Widescreen</PresentationFormat>
  <Paragraphs>129</Paragraphs>
  <Slides>9</Slides>
  <Notes>7</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Examining the Impacts of Using 2 BI Tools In My Organization</vt:lpstr>
      <vt:lpstr>Current Business Intelligence Landscape</vt:lpstr>
      <vt:lpstr>Analyst Impacts of Existing Setup</vt:lpstr>
      <vt:lpstr>Current Analyst Solutions</vt:lpstr>
      <vt:lpstr>Proposed Solutions Landscape</vt:lpstr>
      <vt:lpstr> Firm Impact of Existing Setup</vt:lpstr>
      <vt:lpstr>Questions</vt:lpstr>
      <vt:lpstr>User Workarounds + Proposed Solutions</vt:lpstr>
      <vt:lpstr>Current Business Intelligence Landscape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Khariton</dc:creator>
  <cp:lastModifiedBy>Allan Khariton</cp:lastModifiedBy>
  <cp:revision>6</cp:revision>
  <dcterms:created xsi:type="dcterms:W3CDTF">2025-06-04T02:35:56Z</dcterms:created>
  <dcterms:modified xsi:type="dcterms:W3CDTF">2025-06-08T23:09:10Z</dcterms:modified>
</cp:coreProperties>
</file>